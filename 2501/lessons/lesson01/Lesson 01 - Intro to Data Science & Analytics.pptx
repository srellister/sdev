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0"/>
  </p:notesMasterIdLst>
  <p:sldIdLst>
    <p:sldId id="257" r:id="rId5"/>
    <p:sldId id="258" r:id="rId6"/>
    <p:sldId id="259" r:id="rId7"/>
    <p:sldId id="260" r:id="rId8"/>
    <p:sldId id="261" r:id="rId9"/>
    <p:sldId id="262" r:id="rId10"/>
    <p:sldId id="303" r:id="rId11"/>
    <p:sldId id="304" r:id="rId12"/>
    <p:sldId id="305" r:id="rId13"/>
    <p:sldId id="306" r:id="rId14"/>
    <p:sldId id="272" r:id="rId15"/>
    <p:sldId id="274" r:id="rId16"/>
    <p:sldId id="275" r:id="rId17"/>
    <p:sldId id="540" r:id="rId18"/>
    <p:sldId id="271" r:id="rId19"/>
    <p:sldId id="301" r:id="rId20"/>
    <p:sldId id="302" r:id="rId21"/>
    <p:sldId id="541" r:id="rId22"/>
    <p:sldId id="527" r:id="rId23"/>
    <p:sldId id="542" r:id="rId24"/>
    <p:sldId id="543" r:id="rId25"/>
    <p:sldId id="544" r:id="rId26"/>
    <p:sldId id="545" r:id="rId27"/>
    <p:sldId id="263" r:id="rId28"/>
    <p:sldId id="26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CA4B56-5303-4410-8BB0-FDFA8AB8DA6F}">
          <p14:sldIdLst>
            <p14:sldId id="257"/>
            <p14:sldId id="258"/>
            <p14:sldId id="259"/>
          </p14:sldIdLst>
        </p14:section>
        <p14:section name="Content" id="{1EED6081-A53A-4D3A-883C-481B386F2A58}">
          <p14:sldIdLst>
            <p14:sldId id="260"/>
            <p14:sldId id="261"/>
            <p14:sldId id="262"/>
            <p14:sldId id="303"/>
            <p14:sldId id="304"/>
            <p14:sldId id="305"/>
            <p14:sldId id="306"/>
            <p14:sldId id="272"/>
            <p14:sldId id="274"/>
            <p14:sldId id="275"/>
            <p14:sldId id="540"/>
            <p14:sldId id="271"/>
            <p14:sldId id="301"/>
            <p14:sldId id="302"/>
            <p14:sldId id="541"/>
            <p14:sldId id="527"/>
            <p14:sldId id="542"/>
            <p14:sldId id="543"/>
            <p14:sldId id="544"/>
            <p14:sldId id="545"/>
          </p14:sldIdLst>
        </p14:section>
        <p14:section name="Closing" id="{3F56586C-781D-4B96-9173-00178C1DEB0A}">
          <p14:sldIdLst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73E3F-8FFD-406F-8EE6-FDDB84A56A9D}" v="6" dt="2026-09-01T17:53:28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9418-32C6-4110-A859-E5B7A26FEA0E}" type="datetimeFigureOut">
              <a:rPr lang="en-CA" smtClean="0"/>
              <a:t>2026-09-10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00C83-F6D9-45B3-8345-3CC381FA6B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8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576608877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576608877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76608877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76608877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8576608877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8576608877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c1a2bd8e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c1a2bd8e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576608877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576608877_1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576608877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8576608877_1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40e931ddb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40e931ddb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 science: “What would happen if …”</a:t>
            </a:r>
            <a:endParaRPr/>
          </a:p>
        </p:txBody>
      </p:sp>
      <p:sp>
        <p:nvSpPr>
          <p:cNvPr id="540" name="Google Shape;54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2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2" y="4376058"/>
            <a:ext cx="10606097" cy="113483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66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2" indent="0" algn="ctr">
              <a:buNone/>
              <a:defRPr sz="1600"/>
            </a:lvl5pPr>
            <a:lvl6pPr marL="2285828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007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686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30" y="679939"/>
            <a:ext cx="1847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99093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3168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4301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2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185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66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24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823CF2CF-EF24-40F3-A9EB-203FFF2BA9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910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9BDB-F9FF-4855-8082-CCF6EB3F3FB0}" type="datetimeFigureOut">
              <a:rPr lang="en-CA" smtClean="0"/>
              <a:t>2026-09-10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F2CF-EF24-40F3-A9EB-203FFF2BA9B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98320"/>
            <a:ext cx="105156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3902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F249BDB-F9FF-4855-8082-CCF6EB3F3FB0}" type="datetimeFigureOut">
              <a:rPr lang="en-CA" smtClean="0"/>
              <a:t>2026-09-10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3CF2CF-EF24-40F3-A9EB-203FFF2BA9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602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2" indent="-228582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4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14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080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46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12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it.ca/nait/admissions/office-of-the-registrar/forms-and-polici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nait.ca/nait/international/international-centre" TargetMode="External"/><Relationship Id="rId13" Type="http://schemas.openxmlformats.org/officeDocument/2006/relationships/hyperlink" Target="http://nait.ca/nait/life-at-nait/jobs-career" TargetMode="External"/><Relationship Id="rId3" Type="http://schemas.openxmlformats.org/officeDocument/2006/relationships/hyperlink" Target="http://learningservices.nait.ca/" TargetMode="External"/><Relationship Id="rId7" Type="http://schemas.openxmlformats.org/officeDocument/2006/relationships/hyperlink" Target="http://nait.ca/nait/life-at-nait/health-well-being/religion-spirituality" TargetMode="External"/><Relationship Id="rId12" Type="http://schemas.openxmlformats.org/officeDocument/2006/relationships/hyperlink" Target="https://my.nait.ca/financial-ai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nait.ca/nait/life-at-nait/health-well-being/mental-health-resources" TargetMode="External"/><Relationship Id="rId11" Type="http://schemas.openxmlformats.org/officeDocument/2006/relationships/hyperlink" Target="http://nait.ca/scholarships" TargetMode="External"/><Relationship Id="rId5" Type="http://schemas.openxmlformats.org/officeDocument/2006/relationships/hyperlink" Target="http://nait.ca/nait/life-at-nait/health-well-being/counselling-services" TargetMode="External"/><Relationship Id="rId10" Type="http://schemas.openxmlformats.org/officeDocument/2006/relationships/hyperlink" Target="https://www.nait.ca/nait/student-life/clubs-groups-community/2slgbtqia" TargetMode="External"/><Relationship Id="rId4" Type="http://schemas.openxmlformats.org/officeDocument/2006/relationships/hyperlink" Target="http://nait.ca/nait/life-at-nait/clubs-groups-community/fairness-conflict-resolution" TargetMode="External"/><Relationship Id="rId9" Type="http://schemas.openxmlformats.org/officeDocument/2006/relationships/hyperlink" Target="https://www.nait.ca/nait/student-life/clubs-groups-community/nisohkamatotan-centre" TargetMode="External"/><Relationship Id="rId14" Type="http://schemas.openxmlformats.org/officeDocument/2006/relationships/hyperlink" Target="https://www.ookslife.ca/events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1E06-127A-E6F3-7186-40B633E29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SDEV2501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BEF5F-7E93-2148-4677-39D90A7E4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Day 01 - Intro to Data Science &amp; Analytics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64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26F7-7A6B-DDB6-B5FF-E4291577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Today’s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CD4E-4943-2564-C297-74BE69BC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 and understand key concepts in data science &amp; data visualization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9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1D06-95B0-78AF-9119-DD711465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7257-572E-57FF-5180-033C0FCA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Introductions</a:t>
            </a:r>
          </a:p>
          <a:p>
            <a:r>
              <a:rPr lang="en-US"/>
              <a:t>Housekeeping &amp; Classroom Expectations</a:t>
            </a:r>
          </a:p>
          <a:p>
            <a:r>
              <a:rPr lang="en-US"/>
              <a:t>NAIT Resources</a:t>
            </a:r>
          </a:p>
          <a:p>
            <a:r>
              <a:rPr lang="en-US"/>
              <a:t>Course Orientation</a:t>
            </a:r>
          </a:p>
          <a:p>
            <a:r>
              <a:rPr lang="en-US"/>
              <a:t>Intro to Data Science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30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B9D7AF-0687-6135-23C2-B6B9A11FB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429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4473-80FD-DB29-937F-B78A67ACC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your instructor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C582-1343-A974-860B-D291EA601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25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150F-5A20-30A6-F59E-46364AA8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you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0DB8E-2229-7401-0F31-12AE2C94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Share as much as is comfortable!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n-US"/>
              <a:t>e.g.</a:t>
            </a:r>
          </a:p>
          <a:p>
            <a:pPr marL="457200" lvl="0" indent="-342900">
              <a:spcBef>
                <a:spcPts val="1600"/>
              </a:spcBef>
              <a:buSzPts val="1800"/>
              <a:buChar char="❏"/>
            </a:pPr>
            <a:r>
              <a:rPr lang="en-US"/>
              <a:t>How you're comfy being addressed</a:t>
            </a:r>
          </a:p>
          <a:p>
            <a:pPr marL="457200" lvl="0" indent="-342900">
              <a:spcBef>
                <a:spcPts val="0"/>
              </a:spcBef>
              <a:buSzPts val="1800"/>
              <a:buChar char="❏"/>
            </a:pPr>
            <a:r>
              <a:rPr lang="en-US"/>
              <a:t>Your hometown</a:t>
            </a:r>
          </a:p>
          <a:p>
            <a:pPr marL="457200" lvl="0" indent="-342900">
              <a:spcBef>
                <a:spcPts val="0"/>
              </a:spcBef>
              <a:buSzPts val="1800"/>
              <a:buChar char="❏"/>
            </a:pPr>
            <a:r>
              <a:rPr lang="en-US"/>
              <a:t>Hobbies, interests, </a:t>
            </a:r>
            <a:r>
              <a:rPr lang="en-US" err="1"/>
              <a:t>favourite</a:t>
            </a:r>
            <a:r>
              <a:rPr lang="en-US"/>
              <a:t> sports or movies, </a:t>
            </a:r>
            <a:r>
              <a:rPr lang="en-US" err="1"/>
              <a:t>etc</a:t>
            </a:r>
            <a:endParaRPr lang="en-US"/>
          </a:p>
          <a:p>
            <a:pPr marL="457200" lvl="0" indent="-342900">
              <a:spcBef>
                <a:spcPts val="0"/>
              </a:spcBef>
              <a:buSzPts val="1800"/>
              <a:buChar char="❏"/>
            </a:pPr>
            <a:r>
              <a:rPr lang="en-US"/>
              <a:t>If you have kids or pets</a:t>
            </a:r>
          </a:p>
        </p:txBody>
      </p:sp>
    </p:spTree>
    <p:extLst>
      <p:ext uri="{BB962C8B-B14F-4D97-AF65-F5344CB8AC3E}">
        <p14:creationId xmlns:p14="http://schemas.microsoft.com/office/powerpoint/2010/main" val="273337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6D4A-84F4-5699-3DC0-B41E6DE8C0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Housekeeping &amp; Classroom expectations</a:t>
            </a:r>
          </a:p>
        </p:txBody>
      </p:sp>
    </p:spTree>
    <p:extLst>
      <p:ext uri="{BB962C8B-B14F-4D97-AF65-F5344CB8AC3E}">
        <p14:creationId xmlns:p14="http://schemas.microsoft.com/office/powerpoint/2010/main" val="267677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/>
              <a:t>Housekeeping: </a:t>
            </a:r>
            <a:r>
              <a:rPr lang="en-GB">
                <a:highlight>
                  <a:srgbClr val="FFFF00"/>
                </a:highlight>
              </a:rPr>
              <a:t>Attendance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44" name="Google Shape;144;p2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You are expected to </a:t>
            </a:r>
            <a:r>
              <a:rPr lang="en-GB">
                <a:highlight>
                  <a:schemeClr val="accent6"/>
                </a:highlight>
              </a:rPr>
              <a:t>attend class</a:t>
            </a:r>
            <a:r>
              <a:rPr lang="en-GB"/>
              <a:t>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Please let your instructor know if you are unable to attend a class.  You are responsible for catching up on any missed material.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>
                <a:highlight>
                  <a:schemeClr val="accent6"/>
                </a:highlight>
              </a:rPr>
              <a:t>Punctuality</a:t>
            </a:r>
            <a:r>
              <a:rPr lang="en-GB"/>
              <a:t> is appreciated.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But I'd rather you join late than not at all.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>
                <a:highlight>
                  <a:schemeClr val="accent6"/>
                </a:highlight>
              </a:rPr>
              <a:t>Breaks</a:t>
            </a:r>
            <a:r>
              <a:rPr lang="en-GB"/>
              <a:t> will happen every ~45 min.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Let me know if you need a break sooner!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>
                <a:highlight>
                  <a:schemeClr val="accent6"/>
                </a:highlight>
              </a:rPr>
              <a:t>Interruptions</a:t>
            </a:r>
            <a:r>
              <a:rPr lang="en-GB"/>
              <a:t> are disruptive.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Make sure your devices are set to silent.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If you need to step out for any reason, please try to do so quietly.</a:t>
            </a:r>
            <a:endParaRPr/>
          </a:p>
          <a:p>
            <a:pPr marL="609585" indent="0">
              <a:spcBef>
                <a:spcPts val="2133"/>
              </a:spcBef>
              <a:spcAft>
                <a:spcPts val="2133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/>
              <a:t>Housekeeping: </a:t>
            </a:r>
            <a:r>
              <a:rPr lang="en-GB">
                <a:highlight>
                  <a:srgbClr val="FFFF00"/>
                </a:highlight>
              </a:rPr>
              <a:t>Communication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50" name="Google Shape;150;p2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>
                <a:highlight>
                  <a:schemeClr val="accent6"/>
                </a:highlight>
              </a:rPr>
              <a:t>Questions</a:t>
            </a:r>
            <a:r>
              <a:rPr lang="en-GB"/>
              <a:t> are very welcomed!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During class: raise your hand (or use chat for online classes).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Outside of class: use Teams channel or email.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If questions are out of scope (or we're short on time) I may add them to the Parking Lot.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I strive to respond to </a:t>
            </a:r>
            <a:r>
              <a:rPr lang="en-GB">
                <a:highlight>
                  <a:schemeClr val="accent6"/>
                </a:highlight>
              </a:rPr>
              <a:t>emails &amp; Teams messages</a:t>
            </a:r>
            <a:r>
              <a:rPr lang="en-GB"/>
              <a:t> within 1-2 business days.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For emails, a clear subject line usually means a quicker response.</a:t>
            </a:r>
            <a:endParaRPr/>
          </a:p>
          <a:p>
            <a:pPr marL="1828754" lvl="2" indent="-423323">
              <a:spcBef>
                <a:spcPts val="0"/>
              </a:spcBef>
              <a:buSzPts val="1400"/>
              <a:buChar char="■"/>
            </a:pPr>
            <a:r>
              <a:rPr lang="en-GB"/>
              <a:t>e.g. “SDEV 2501 Assignment 1" vs "homework"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/>
              <a:t>Housekeeping: </a:t>
            </a:r>
            <a:r>
              <a:rPr lang="en-GB">
                <a:highlight>
                  <a:srgbClr val="FFFF00"/>
                </a:highlight>
              </a:rPr>
              <a:t>In-Person Logistics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56" name="Google Shape;156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Nearest exit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WCs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Men's: A and B wings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Women's: B and C wings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Gender-inclusive: 1st floor (W106)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GB"/>
              <a:t>Assessments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highlight>
                  <a:srgbClr val="FFFF00"/>
                </a:highlight>
              </a:rPr>
              <a:t>Assessment Expectations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89" name="Google Shape;189;p3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Students are responsible for </a:t>
            </a:r>
            <a:r>
              <a:rPr lang="en-GB">
                <a:highlight>
                  <a:schemeClr val="accent6"/>
                </a:highlight>
              </a:rPr>
              <a:t>knowing and adhering to due dates</a:t>
            </a:r>
            <a:r>
              <a:rPr lang="en-GB"/>
              <a:t> for assessments.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In this course, </a:t>
            </a:r>
            <a:r>
              <a:rPr lang="en-GB">
                <a:highlight>
                  <a:schemeClr val="accent6"/>
                </a:highlight>
              </a:rPr>
              <a:t>generative AI is not permitted</a:t>
            </a:r>
            <a:r>
              <a:rPr lang="en-GB"/>
              <a:t> for assessments, as they are intended to measure your ability to generate your own work. Using prohibited resources will be considered </a:t>
            </a:r>
            <a:r>
              <a:rPr lang="en-GB">
                <a:highlight>
                  <a:schemeClr val="accent6"/>
                </a:highlight>
              </a:rPr>
              <a:t>academic misconduct</a:t>
            </a:r>
            <a:r>
              <a:rPr lang="en-GB"/>
              <a:t> and be addressed following SR 1.3 Academic Integrity Procedure. 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Instructors strive to provide </a:t>
            </a:r>
            <a:r>
              <a:rPr lang="en-GB">
                <a:highlight>
                  <a:schemeClr val="accent6"/>
                </a:highlight>
              </a:rPr>
              <a:t>marks &amp; feedback</a:t>
            </a:r>
            <a:r>
              <a:rPr lang="en-GB"/>
              <a:t> within 5 business days.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/>
              <a:t>Assignment </a:t>
            </a:r>
            <a:r>
              <a:rPr lang="en-GB">
                <a:highlight>
                  <a:schemeClr val="accent6"/>
                </a:highlight>
              </a:rPr>
              <a:t>Extension</a:t>
            </a:r>
            <a:r>
              <a:rPr lang="en-GB"/>
              <a:t> Guideline</a:t>
            </a:r>
            <a:endParaRPr/>
          </a:p>
        </p:txBody>
      </p:sp>
      <p:sp>
        <p:nvSpPr>
          <p:cNvPr id="195" name="Google Shape;195;p34"/>
          <p:cNvSpPr txBox="1">
            <a:spLocks noGrp="1"/>
          </p:cNvSpPr>
          <p:nvPr>
            <p:ph idx="1"/>
          </p:nvPr>
        </p:nvSpPr>
        <p:spPr>
          <a:xfrm>
            <a:off x="838199" y="1825626"/>
            <a:ext cx="10733868" cy="36869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Students with </a:t>
            </a:r>
            <a:r>
              <a:rPr lang="en-GB">
                <a:highlight>
                  <a:schemeClr val="accent6"/>
                </a:highlight>
              </a:rPr>
              <a:t>accommodations</a:t>
            </a:r>
            <a:r>
              <a:rPr lang="en-GB"/>
              <a:t> are responsible for disclosing those requirements at least 10 days in advance of any extension request.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In the case of extensions requested due to </a:t>
            </a:r>
            <a:r>
              <a:rPr lang="en-GB">
                <a:highlight>
                  <a:schemeClr val="accent6"/>
                </a:highlight>
              </a:rPr>
              <a:t>extenuating circumstances</a:t>
            </a:r>
            <a:r>
              <a:rPr lang="en-GB"/>
              <a:t> (e.g. medical emergency), notify your instructor as soon as possible, 10 days in advance where possible.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Documentation is generally required to support the request.</a:t>
            </a:r>
            <a:endParaRPr/>
          </a:p>
          <a:p>
            <a:pPr marL="1219170" lvl="1" indent="-423323">
              <a:spcBef>
                <a:spcPts val="0"/>
              </a:spcBef>
              <a:buSzPts val="1400"/>
              <a:buChar char="○"/>
            </a:pPr>
            <a:r>
              <a:rPr lang="en-GB"/>
              <a:t>The request should be made in writing and sent via email.</a:t>
            </a:r>
            <a:endParaRPr/>
          </a:p>
          <a:p>
            <a:pPr marL="609585" indent="-457189">
              <a:spcBef>
                <a:spcPts val="0"/>
              </a:spcBef>
              <a:buSzPts val="1800"/>
              <a:buChar char="●"/>
            </a:pPr>
            <a:r>
              <a:rPr lang="en-GB"/>
              <a:t>For requests due to </a:t>
            </a:r>
            <a:r>
              <a:rPr lang="en-GB">
                <a:highlight>
                  <a:schemeClr val="accent6"/>
                </a:highlight>
              </a:rPr>
              <a:t>religious observances</a:t>
            </a:r>
            <a:r>
              <a:rPr lang="en-GB"/>
              <a:t>, submit a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Deferred Exam Request Form</a:t>
            </a:r>
            <a:r>
              <a:rPr lang="en-GB"/>
              <a:t> at least 10 business days prior.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E97695-CEB9-A70C-9F02-3140AD279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NAIT Resources</a:t>
            </a:r>
          </a:p>
        </p:txBody>
      </p:sp>
    </p:spTree>
    <p:extLst>
      <p:ext uri="{BB962C8B-B14F-4D97-AF65-F5344CB8AC3E}">
        <p14:creationId xmlns:p14="http://schemas.microsoft.com/office/powerpoint/2010/main" val="1986450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/>
              <a:t>NAIT Resources</a:t>
            </a: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3"/>
              </a:rPr>
              <a:t>Tutoring &amp; accommodations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4"/>
              </a:rPr>
              <a:t>Student rights &amp; responsibilities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5"/>
              </a:rPr>
              <a:t>Counselling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6"/>
              </a:rPr>
              <a:t>Mental health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7"/>
              </a:rPr>
              <a:t>Spiritual well-being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8"/>
              </a:rPr>
              <a:t>International centre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 err="1">
                <a:hlinkClick r:id="rId9"/>
              </a:rPr>
              <a:t>Nîsôhkamâtotân</a:t>
            </a:r>
            <a:r>
              <a:rPr lang="en-GB" sz="2400" u="sng">
                <a:hlinkClick r:id="rId9"/>
              </a:rPr>
              <a:t> Centre</a:t>
            </a:r>
            <a:r>
              <a:rPr lang="en-GB" sz="2400" u="sng"/>
              <a:t> 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10"/>
              </a:rPr>
              <a:t>2SLGBTQIA+ Students</a:t>
            </a:r>
            <a:r>
              <a:rPr lang="en-GB" sz="2400" u="sng"/>
              <a:t> 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11"/>
              </a:rPr>
              <a:t>Scholarships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12"/>
              </a:rPr>
              <a:t>Financial Aid</a:t>
            </a:r>
            <a:r>
              <a:rPr lang="en-GB" sz="2400" u="sng"/>
              <a:t> 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13"/>
              </a:rPr>
              <a:t>Job postings</a:t>
            </a:r>
            <a:endParaRPr sz="2400" u="sng"/>
          </a:p>
          <a:p>
            <a:pPr marL="609585" indent="-423323">
              <a:spcBef>
                <a:spcPts val="0"/>
              </a:spcBef>
              <a:buSzPts val="1400"/>
              <a:buChar char="●"/>
            </a:pPr>
            <a:r>
              <a:rPr lang="en-GB" sz="2400" u="sng">
                <a:hlinkClick r:id="rId14"/>
              </a:rPr>
              <a:t>NAITSA events</a:t>
            </a:r>
            <a:endParaRPr sz="2400" u="sn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DFC1-1444-FB28-9060-2D156D821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Course Orientation</a:t>
            </a:r>
          </a:p>
        </p:txBody>
      </p:sp>
    </p:spTree>
    <p:extLst>
      <p:ext uri="{BB962C8B-B14F-4D97-AF65-F5344CB8AC3E}">
        <p14:creationId xmlns:p14="http://schemas.microsoft.com/office/powerpoint/2010/main" val="2657164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D9B9BC-A026-DC7F-EE30-B1EDF7FE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Course Orientation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31D7F-1FAB-EE2B-FC75-4B3E00639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Course outline</a:t>
            </a:r>
          </a:p>
          <a:p>
            <a:r>
              <a:rPr lang="en-CA"/>
              <a:t>Syllabus</a:t>
            </a:r>
          </a:p>
          <a:p>
            <a:r>
              <a:rPr lang="en-CA"/>
              <a:t>Course calendar</a:t>
            </a:r>
          </a:p>
          <a:p>
            <a:r>
              <a:rPr lang="en-CA" err="1"/>
              <a:t>BrightSpace</a:t>
            </a:r>
            <a:r>
              <a:rPr lang="en-CA"/>
              <a:t> tour</a:t>
            </a:r>
          </a:p>
          <a:p>
            <a:r>
              <a:rPr lang="en-CA"/>
              <a:t>What will we be able to do by the end of this course?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152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4BA2-BF48-8B70-FA3B-4112019E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2381-F1AC-84A2-8501-0F4072008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34098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 txBox="1">
            <a:spLocks noGrp="1"/>
          </p:cNvSpPr>
          <p:nvPr>
            <p:ph type="title"/>
          </p:nvPr>
        </p:nvSpPr>
        <p:spPr>
          <a:xfrm>
            <a:off x="833967" y="681038"/>
            <a:ext cx="10515600" cy="8261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CA"/>
              <a:t>What is data analysis?</a:t>
            </a:r>
            <a:endParaRPr/>
          </a:p>
        </p:txBody>
      </p:sp>
      <p:grpSp>
        <p:nvGrpSpPr>
          <p:cNvPr id="543" name="Google Shape;543;p9"/>
          <p:cNvGrpSpPr/>
          <p:nvPr/>
        </p:nvGrpSpPr>
        <p:grpSpPr>
          <a:xfrm>
            <a:off x="838200" y="2273295"/>
            <a:ext cx="10515600" cy="3455999"/>
            <a:chOff x="0" y="447669"/>
            <a:chExt cx="10515600" cy="3455999"/>
          </a:xfrm>
        </p:grpSpPr>
        <p:sp>
          <p:nvSpPr>
            <p:cNvPr id="544" name="Google Shape;544;p9"/>
            <p:cNvSpPr/>
            <p:nvPr/>
          </p:nvSpPr>
          <p:spPr>
            <a:xfrm>
              <a:off x="0" y="447669"/>
              <a:ext cx="10515600" cy="719549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45" name="Google Shape;545;p9"/>
            <p:cNvSpPr txBox="1"/>
            <p:nvPr/>
          </p:nvSpPr>
          <p:spPr>
            <a:xfrm>
              <a:off x="35125" y="482794"/>
              <a:ext cx="10445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3000"/>
              </a:pPr>
              <a:r>
                <a:rPr lang="en-CA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analytics: using analyzed data to make data-driven decisions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0" y="1167219"/>
              <a:ext cx="10515600" cy="1210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47" name="Google Shape;547;p9"/>
            <p:cNvSpPr txBox="1"/>
            <p:nvPr/>
          </p:nvSpPr>
          <p:spPr>
            <a:xfrm>
              <a:off x="0" y="1167219"/>
              <a:ext cx="10515600" cy="1210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851" tIns="38100" rIns="213351" bIns="38100" anchor="t" anchorCtr="0">
              <a:noAutofit/>
            </a:bodyPr>
            <a:lstStyle/>
            <a:p>
              <a:pPr marL="228594" lvl="1" indent="-228594">
                <a:lnSpc>
                  <a:spcPct val="90000"/>
                </a:lnSpc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lang="en-CA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</a:t>
              </a:r>
              <a:r>
                <a:rPr lang="en-CA" sz="2300">
                  <a:solidFill>
                    <a:srgbClr val="00B0F0"/>
                  </a:solidFill>
                  <a:latin typeface="Calibri"/>
                  <a:ea typeface="Calibri"/>
                  <a:cs typeface="Calibri"/>
                  <a:sym typeface="Calibri"/>
                </a:rPr>
                <a:t>wrangling</a:t>
              </a:r>
              <a:r>
                <a:rPr lang="en-CA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cleaning and transforming raw data into a better format</a:t>
              </a:r>
              <a:endPara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594" lvl="1" indent="-228594">
                <a:lnSpc>
                  <a:spcPct val="90000"/>
                </a:lnSpc>
                <a:spcBef>
                  <a:spcPts val="460"/>
                </a:spcBef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lang="en-CA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</a:t>
              </a:r>
              <a:r>
                <a:rPr lang="en-CA" sz="2300">
                  <a:solidFill>
                    <a:srgbClr val="00B0F0"/>
                  </a:solidFill>
                  <a:latin typeface="Calibri"/>
                  <a:ea typeface="Calibri"/>
                  <a:cs typeface="Calibri"/>
                  <a:sym typeface="Calibri"/>
                </a:rPr>
                <a:t>analysis</a:t>
              </a:r>
              <a:r>
                <a:rPr lang="en-CA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collecting, manipulating, examining data</a:t>
              </a:r>
              <a:endPara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594" lvl="1" indent="-228594">
                <a:lnSpc>
                  <a:spcPct val="90000"/>
                </a:lnSpc>
                <a:spcBef>
                  <a:spcPts val="460"/>
                </a:spcBef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lang="en-CA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</a:t>
              </a:r>
              <a:r>
                <a:rPr lang="en-CA" sz="2300">
                  <a:solidFill>
                    <a:srgbClr val="00B0F0"/>
                  </a:solidFill>
                  <a:latin typeface="Calibri"/>
                  <a:ea typeface="Calibri"/>
                  <a:cs typeface="Calibri"/>
                  <a:sym typeface="Calibri"/>
                </a:rPr>
                <a:t>visualization</a:t>
              </a:r>
              <a:r>
                <a:rPr lang="en-CA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the graphical representation of information</a:t>
              </a:r>
              <a:endPara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0" y="2378169"/>
              <a:ext cx="10515600" cy="719549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49" name="Google Shape;549;p9"/>
            <p:cNvSpPr txBox="1"/>
            <p:nvPr/>
          </p:nvSpPr>
          <p:spPr>
            <a:xfrm>
              <a:off x="35125" y="2413294"/>
              <a:ext cx="10445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3000"/>
              </a:pPr>
              <a:r>
                <a:rPr lang="en-CA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science: extract forward-looking insights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0" y="3184119"/>
              <a:ext cx="10515600" cy="719549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51" name="Google Shape;551;p9"/>
            <p:cNvSpPr txBox="1"/>
            <p:nvPr/>
          </p:nvSpPr>
          <p:spPr>
            <a:xfrm>
              <a:off x="35125" y="3219244"/>
              <a:ext cx="10445350" cy="649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3000"/>
              </a:pPr>
              <a:r>
                <a:rPr lang="en-CA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Business Intelligence: descriptive analysis of historical data</a:t>
              </a: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5E43-2DCB-5F16-3878-F8B6DECF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visualize?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2907-C6A1-D15B-9F1E-A89CC2EBE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519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448A-8D4B-E20A-C4E7-BABDB288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we see visualization in real life?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4946-12B3-3478-8BB5-3D6980E1E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6704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B0BB-0285-3042-9FF8-77A64D70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the risks of using “messy” data?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4AFED-70CB-C59E-2F8A-5A66EB685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6712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267F-6576-677F-A2DD-8D923CFFE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Given an industry, what questions could data help answer?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E867-9D59-0CAA-4EE6-09924280F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962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A9F5-5E4F-5886-AAAE-11D4A1CC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90D4-4AA7-58D3-7298-DBDDD2E80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Check-out ticket</a:t>
            </a:r>
          </a:p>
          <a:p>
            <a:pPr lvl="1"/>
            <a:r>
              <a:rPr lang="en-US"/>
              <a:t>3 things data science can do</a:t>
            </a:r>
          </a:p>
          <a:p>
            <a:pPr lvl="1"/>
            <a:r>
              <a:rPr lang="en-US"/>
              <a:t>2 terms you learned today</a:t>
            </a:r>
          </a:p>
          <a:p>
            <a:pPr lvl="1"/>
            <a:r>
              <a:rPr lang="en-US"/>
              <a:t>1 question you still have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681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33C7-294D-801F-4BC4-2D48354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0CC8-DF28-78BC-A87E-B748833C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Data Science Lifecycle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2754272"/>
      </p:ext>
    </p:extLst>
  </p:cSld>
  <p:clrMapOvr>
    <a:masterClrMapping/>
  </p:clrMapOvr>
</p:sld>
</file>

<file path=ppt/theme/theme1.xml><?xml version="1.0" encoding="utf-8"?>
<a:theme xmlns:a="http://schemas.openxmlformats.org/drawingml/2006/main" name="NAIT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" id="{DF651FC3-C7F7-494F-8E7B-068392C93DF2}" vid="{A0C0D8A3-3686-48EC-A2E6-86B0D9C321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04d7dfe6c5c585be91c8ee3187e43294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27f7757fcb8cf5250918f83dc09c3597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175f85-aaa6-450f-8e62-bb2d8657c111" xsi:nil="true"/>
    <lcf76f155ced4ddcb4097134ff3c332f xmlns="c0636a0e-6a5d-4f3a-8cec-2ed9d7e96064">
      <Terms xmlns="http://schemas.microsoft.com/office/infopath/2007/PartnerControls"/>
    </lcf76f155ced4ddcb4097134ff3c332f>
    <DocumentType xmlns="c0636a0e-6a5d-4f3a-8cec-2ed9d7e96064" xsi:nil="true"/>
  </documentManagement>
</p:properties>
</file>

<file path=customXml/itemProps1.xml><?xml version="1.0" encoding="utf-8"?>
<ds:datastoreItem xmlns:ds="http://schemas.openxmlformats.org/officeDocument/2006/customXml" ds:itemID="{9FFEE3EE-F5E2-4D12-B814-74C915ABEB4C}">
  <ds:schemaRefs>
    <ds:schemaRef ds:uri="28175f85-aaa6-450f-8e62-bb2d8657c111"/>
    <ds:schemaRef ds:uri="c0636a0e-6a5d-4f3a-8cec-2ed9d7e960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D82D9FF-1A69-4D69-BCAF-71DC01FB2A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C0EE0A-A64E-4FE7-9B8A-406E52BE4BDE}">
  <ds:schemaRefs>
    <ds:schemaRef ds:uri="28175f85-aaa6-450f-8e62-bb2d8657c111"/>
    <ds:schemaRef ds:uri="c0636a0e-6a5d-4f3a-8cec-2ed9d7e9606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</Template>
  <Application>Microsoft Office PowerPoint</Application>
  <PresentationFormat>Widescreen</PresentationFormat>
  <Slides>25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NAIT</vt:lpstr>
      <vt:lpstr>SDEV2501</vt:lpstr>
      <vt:lpstr>Today’s objective</vt:lpstr>
      <vt:lpstr>Agenda</vt:lpstr>
      <vt:lpstr>Introductions</vt:lpstr>
      <vt:lpstr>About your instructor</vt:lpstr>
      <vt:lpstr>About you</vt:lpstr>
      <vt:lpstr>Housekeeping &amp; Classroom expectations</vt:lpstr>
      <vt:lpstr>Housekeeping: Attendance</vt:lpstr>
      <vt:lpstr>Housekeeping: Communication</vt:lpstr>
      <vt:lpstr>Housekeeping: In-Person Logistics</vt:lpstr>
      <vt:lpstr>Assessments</vt:lpstr>
      <vt:lpstr>Assessment Expectations</vt:lpstr>
      <vt:lpstr>Assignment Extension Guideline</vt:lpstr>
      <vt:lpstr>NAIT Resources</vt:lpstr>
      <vt:lpstr>NAIT Resources</vt:lpstr>
      <vt:lpstr>Course Orientation</vt:lpstr>
      <vt:lpstr>Course Orientation</vt:lpstr>
      <vt:lpstr>Data analysis</vt:lpstr>
      <vt:lpstr>What is data analysis?</vt:lpstr>
      <vt:lpstr>Why do we visualize?</vt:lpstr>
      <vt:lpstr>Where do we see visualization in real life?</vt:lpstr>
      <vt:lpstr>What are the risks of using “messy” data?</vt:lpstr>
      <vt:lpstr>Given an industry, what questions could data help answer?</vt:lpstr>
      <vt:lpstr>Closing</vt:lpstr>
      <vt:lpstr>What’s next?</vt:lpstr>
    </vt:vector>
  </TitlesOfParts>
  <Company>NAIT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 Marsh</dc:creator>
  <cp:revision>2</cp:revision>
  <dcterms:created xsi:type="dcterms:W3CDTF">2026-08-25T04:17:51Z</dcterms:created>
  <dcterms:modified xsi:type="dcterms:W3CDTF">2026-09-10T22:47:30Z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2026-08-25T04:17:52Z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f0a5aaa1-60c3-4091-b8ec-b762daf8984d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10, 3, 0, 1</vt:lpwstr>
  </property>
  <property fmtid="{D5CDD505-2E9C-101B-9397-08002B2CF9AE}" pid="10" name="ContentTypeId">
    <vt:lpwstr>0x0101007BB085E912FEB648B2192060B32B0D81</vt:lpwstr>
  </property>
  <property fmtid="{D5CDD505-2E9C-101B-9397-08002B2CF9AE}" pid="11" name="MediaServiceImageTags">
    <vt:lpwstr/>
  </property>
</Properties>
</file>