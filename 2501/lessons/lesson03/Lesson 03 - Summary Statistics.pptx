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23"/>
  </p:notesMasterIdLst>
  <p:sldIdLst>
    <p:sldId id="256" r:id="rId5"/>
    <p:sldId id="257" r:id="rId6"/>
    <p:sldId id="264" r:id="rId7"/>
    <p:sldId id="265" r:id="rId8"/>
    <p:sldId id="573" r:id="rId9"/>
    <p:sldId id="259" r:id="rId10"/>
    <p:sldId id="260" r:id="rId11"/>
    <p:sldId id="277" r:id="rId12"/>
    <p:sldId id="570" r:id="rId13"/>
    <p:sldId id="571" r:id="rId14"/>
    <p:sldId id="572" r:id="rId15"/>
    <p:sldId id="278" r:id="rId16"/>
    <p:sldId id="276" r:id="rId17"/>
    <p:sldId id="574" r:id="rId18"/>
    <p:sldId id="279" r:id="rId19"/>
    <p:sldId id="575" r:id="rId20"/>
    <p:sldId id="263" r:id="rId21"/>
    <p:sldId id="26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CA4B56-5303-4410-8BB0-FDFA8AB8DA6F}">
          <p14:sldIdLst>
            <p14:sldId id="256"/>
            <p14:sldId id="257"/>
          </p14:sldIdLst>
        </p14:section>
        <p14:section name="Review" id="{B9E32992-6297-4F9A-9645-4D543D0AA720}">
          <p14:sldIdLst>
            <p14:sldId id="264"/>
            <p14:sldId id="265"/>
            <p14:sldId id="573"/>
          </p14:sldIdLst>
        </p14:section>
        <p14:section name="Content" id="{1EED6081-A53A-4D3A-883C-481B386F2A58}">
          <p14:sldIdLst>
            <p14:sldId id="259"/>
            <p14:sldId id="260"/>
            <p14:sldId id="277"/>
            <p14:sldId id="570"/>
            <p14:sldId id="571"/>
            <p14:sldId id="572"/>
            <p14:sldId id="278"/>
            <p14:sldId id="276"/>
            <p14:sldId id="574"/>
            <p14:sldId id="279"/>
            <p14:sldId id="575"/>
          </p14:sldIdLst>
        </p14:section>
        <p14:section name="Closing" id="{3F56586C-781D-4B96-9173-00178C1DEB0A}">
          <p14:sldIdLst>
            <p14:sldId id="263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23414-62F4-412B-8D07-A7E396A2A462}" v="2" dt="2026-09-08T14:22:02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82330" autoAdjust="0"/>
  </p:normalViewPr>
  <p:slideViewPr>
    <p:cSldViewPr snapToGrid="0">
      <p:cViewPr varScale="1">
        <p:scale>
          <a:sx n="57" d="100"/>
          <a:sy n="57" d="100"/>
        </p:scale>
        <p:origin x="78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8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C8A907-7120-4FBA-BAE9-C6F66ABD436C}" type="doc">
      <dgm:prSet loTypeId="urn:microsoft.com/office/officeart/2005/8/layout/default" loCatId="list" qsTypeId="urn:microsoft.com/office/officeart/2005/8/quickstyle/simple4#3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1AC5AB67-A334-4190-AB35-549A30A3A9C7}">
      <dgm:prSet/>
      <dgm:spPr/>
      <dgm:t>
        <a:bodyPr/>
        <a:lstStyle/>
        <a:p>
          <a:r>
            <a:rPr lang="en-CA"/>
            <a:t>Mean</a:t>
          </a:r>
          <a:endParaRPr lang="en-US"/>
        </a:p>
      </dgm:t>
    </dgm:pt>
    <dgm:pt modelId="{8821513D-EA8B-404D-8B80-61A51BB704D6}" type="parTrans" cxnId="{F53174E8-7E3E-4842-A0C8-BB392C9D3C8C}">
      <dgm:prSet/>
      <dgm:spPr/>
      <dgm:t>
        <a:bodyPr/>
        <a:lstStyle/>
        <a:p>
          <a:endParaRPr lang="en-US"/>
        </a:p>
      </dgm:t>
    </dgm:pt>
    <dgm:pt modelId="{5EA4269B-104E-4E66-8377-C6A0F0CAFA6B}" type="sibTrans" cxnId="{F53174E8-7E3E-4842-A0C8-BB392C9D3C8C}">
      <dgm:prSet/>
      <dgm:spPr/>
      <dgm:t>
        <a:bodyPr/>
        <a:lstStyle/>
        <a:p>
          <a:endParaRPr lang="en-US"/>
        </a:p>
      </dgm:t>
    </dgm:pt>
    <dgm:pt modelId="{6D2FBA76-6B3D-4309-876D-C5BEA6FCCC75}">
      <dgm:prSet/>
      <dgm:spPr/>
      <dgm:t>
        <a:bodyPr/>
        <a:lstStyle/>
        <a:p>
          <a:r>
            <a:rPr lang="en-CA"/>
            <a:t>Median</a:t>
          </a:r>
          <a:endParaRPr lang="en-US"/>
        </a:p>
      </dgm:t>
    </dgm:pt>
    <dgm:pt modelId="{4CDB765A-A8B0-437B-897A-669AC226585E}" type="parTrans" cxnId="{2DE93000-389C-4653-852C-8907DE1A55AA}">
      <dgm:prSet/>
      <dgm:spPr/>
      <dgm:t>
        <a:bodyPr/>
        <a:lstStyle/>
        <a:p>
          <a:endParaRPr lang="en-US"/>
        </a:p>
      </dgm:t>
    </dgm:pt>
    <dgm:pt modelId="{391B3A7A-8149-4682-92F9-3D14D17CA4E8}" type="sibTrans" cxnId="{2DE93000-389C-4653-852C-8907DE1A55AA}">
      <dgm:prSet/>
      <dgm:spPr/>
      <dgm:t>
        <a:bodyPr/>
        <a:lstStyle/>
        <a:p>
          <a:endParaRPr lang="en-US"/>
        </a:p>
      </dgm:t>
    </dgm:pt>
    <dgm:pt modelId="{69054541-ACFA-4F04-81BE-AB155209F744}">
      <dgm:prSet/>
      <dgm:spPr/>
      <dgm:t>
        <a:bodyPr/>
        <a:lstStyle/>
        <a:p>
          <a:r>
            <a:rPr lang="en-CA"/>
            <a:t>Mode</a:t>
          </a:r>
          <a:endParaRPr lang="en-US"/>
        </a:p>
      </dgm:t>
    </dgm:pt>
    <dgm:pt modelId="{85E894B1-6F97-467B-8EC6-0A2B64F6E5BC}" type="parTrans" cxnId="{9917773F-4E40-4830-8F15-CB2A80F902B6}">
      <dgm:prSet/>
      <dgm:spPr/>
      <dgm:t>
        <a:bodyPr/>
        <a:lstStyle/>
        <a:p>
          <a:endParaRPr lang="en-US"/>
        </a:p>
      </dgm:t>
    </dgm:pt>
    <dgm:pt modelId="{37AE5F70-C3AE-4BC2-9570-21137979C977}" type="sibTrans" cxnId="{9917773F-4E40-4830-8F15-CB2A80F902B6}">
      <dgm:prSet/>
      <dgm:spPr/>
      <dgm:t>
        <a:bodyPr/>
        <a:lstStyle/>
        <a:p>
          <a:endParaRPr lang="en-US"/>
        </a:p>
      </dgm:t>
    </dgm:pt>
    <dgm:pt modelId="{0FC4B8AC-99FA-465C-B97F-BD4A767BD633}" type="pres">
      <dgm:prSet presAssocID="{02C8A907-7120-4FBA-BAE9-C6F66ABD436C}" presName="diagram" presStyleCnt="0">
        <dgm:presLayoutVars>
          <dgm:dir/>
          <dgm:resizeHandles val="exact"/>
        </dgm:presLayoutVars>
      </dgm:prSet>
      <dgm:spPr/>
    </dgm:pt>
    <dgm:pt modelId="{C27844B6-8D4A-437F-9E25-E203866FFBBE}" type="pres">
      <dgm:prSet presAssocID="{1AC5AB67-A334-4190-AB35-549A30A3A9C7}" presName="node" presStyleLbl="node1" presStyleIdx="0" presStyleCnt="3">
        <dgm:presLayoutVars>
          <dgm:bulletEnabled val="1"/>
        </dgm:presLayoutVars>
      </dgm:prSet>
      <dgm:spPr/>
    </dgm:pt>
    <dgm:pt modelId="{48119F33-8785-430A-8585-FBACE40593E2}" type="pres">
      <dgm:prSet presAssocID="{5EA4269B-104E-4E66-8377-C6A0F0CAFA6B}" presName="sibTrans" presStyleCnt="0"/>
      <dgm:spPr/>
    </dgm:pt>
    <dgm:pt modelId="{A864925A-2DAC-4FDE-BB1A-6A6A08C0EE9C}" type="pres">
      <dgm:prSet presAssocID="{6D2FBA76-6B3D-4309-876D-C5BEA6FCCC75}" presName="node" presStyleLbl="node1" presStyleIdx="1" presStyleCnt="3">
        <dgm:presLayoutVars>
          <dgm:bulletEnabled val="1"/>
        </dgm:presLayoutVars>
      </dgm:prSet>
      <dgm:spPr/>
    </dgm:pt>
    <dgm:pt modelId="{B76EA1D1-7EFE-40B2-B23B-04588A785759}" type="pres">
      <dgm:prSet presAssocID="{391B3A7A-8149-4682-92F9-3D14D17CA4E8}" presName="sibTrans" presStyleCnt="0"/>
      <dgm:spPr/>
    </dgm:pt>
    <dgm:pt modelId="{363064D7-A89A-479F-AFD0-8727699B6378}" type="pres">
      <dgm:prSet presAssocID="{69054541-ACFA-4F04-81BE-AB155209F744}" presName="node" presStyleLbl="node1" presStyleIdx="2" presStyleCnt="3">
        <dgm:presLayoutVars>
          <dgm:bulletEnabled val="1"/>
        </dgm:presLayoutVars>
      </dgm:prSet>
      <dgm:spPr/>
    </dgm:pt>
  </dgm:ptLst>
  <dgm:cxnLst>
    <dgm:cxn modelId="{2DE93000-389C-4653-852C-8907DE1A55AA}" srcId="{02C8A907-7120-4FBA-BAE9-C6F66ABD436C}" destId="{6D2FBA76-6B3D-4309-876D-C5BEA6FCCC75}" srcOrd="1" destOrd="0" parTransId="{4CDB765A-A8B0-437B-897A-669AC226585E}" sibTransId="{391B3A7A-8149-4682-92F9-3D14D17CA4E8}"/>
    <dgm:cxn modelId="{97602413-2B3E-4D5C-B8E0-5C9A210CB03B}" type="presOf" srcId="{69054541-ACFA-4F04-81BE-AB155209F744}" destId="{363064D7-A89A-479F-AFD0-8727699B6378}" srcOrd="0" destOrd="0" presId="urn:microsoft.com/office/officeart/2005/8/layout/default"/>
    <dgm:cxn modelId="{9917773F-4E40-4830-8F15-CB2A80F902B6}" srcId="{02C8A907-7120-4FBA-BAE9-C6F66ABD436C}" destId="{69054541-ACFA-4F04-81BE-AB155209F744}" srcOrd="2" destOrd="0" parTransId="{85E894B1-6F97-467B-8EC6-0A2B64F6E5BC}" sibTransId="{37AE5F70-C3AE-4BC2-9570-21137979C977}"/>
    <dgm:cxn modelId="{0C32F18A-9076-41D4-927D-7E5BEE3F0603}" type="presOf" srcId="{1AC5AB67-A334-4190-AB35-549A30A3A9C7}" destId="{C27844B6-8D4A-437F-9E25-E203866FFBBE}" srcOrd="0" destOrd="0" presId="urn:microsoft.com/office/officeart/2005/8/layout/default"/>
    <dgm:cxn modelId="{24AF8A8B-53F6-48F0-9EDC-BA3F12B9844F}" type="presOf" srcId="{6D2FBA76-6B3D-4309-876D-C5BEA6FCCC75}" destId="{A864925A-2DAC-4FDE-BB1A-6A6A08C0EE9C}" srcOrd="0" destOrd="0" presId="urn:microsoft.com/office/officeart/2005/8/layout/default"/>
    <dgm:cxn modelId="{EA0AB2BD-315B-43B2-A734-11A9BCC1E1B6}" type="presOf" srcId="{02C8A907-7120-4FBA-BAE9-C6F66ABD436C}" destId="{0FC4B8AC-99FA-465C-B97F-BD4A767BD633}" srcOrd="0" destOrd="0" presId="urn:microsoft.com/office/officeart/2005/8/layout/default"/>
    <dgm:cxn modelId="{F53174E8-7E3E-4842-A0C8-BB392C9D3C8C}" srcId="{02C8A907-7120-4FBA-BAE9-C6F66ABD436C}" destId="{1AC5AB67-A334-4190-AB35-549A30A3A9C7}" srcOrd="0" destOrd="0" parTransId="{8821513D-EA8B-404D-8B80-61A51BB704D6}" sibTransId="{5EA4269B-104E-4E66-8377-C6A0F0CAFA6B}"/>
    <dgm:cxn modelId="{EC087535-7A79-47F4-9399-B1A618BC56E4}" type="presParOf" srcId="{0FC4B8AC-99FA-465C-B97F-BD4A767BD633}" destId="{C27844B6-8D4A-437F-9E25-E203866FFBBE}" srcOrd="0" destOrd="0" presId="urn:microsoft.com/office/officeart/2005/8/layout/default"/>
    <dgm:cxn modelId="{5624CE33-C5FC-4F17-BF78-04642C25D354}" type="presParOf" srcId="{0FC4B8AC-99FA-465C-B97F-BD4A767BD633}" destId="{48119F33-8785-430A-8585-FBACE40593E2}" srcOrd="1" destOrd="0" presId="urn:microsoft.com/office/officeart/2005/8/layout/default"/>
    <dgm:cxn modelId="{038CDE96-DC1F-4957-8C41-E92751FD7156}" type="presParOf" srcId="{0FC4B8AC-99FA-465C-B97F-BD4A767BD633}" destId="{A864925A-2DAC-4FDE-BB1A-6A6A08C0EE9C}" srcOrd="2" destOrd="0" presId="urn:microsoft.com/office/officeart/2005/8/layout/default"/>
    <dgm:cxn modelId="{B613246A-A2AA-48F1-9F71-461E3DE5CE91}" type="presParOf" srcId="{0FC4B8AC-99FA-465C-B97F-BD4A767BD633}" destId="{B76EA1D1-7EFE-40B2-B23B-04588A785759}" srcOrd="3" destOrd="0" presId="urn:microsoft.com/office/officeart/2005/8/layout/default"/>
    <dgm:cxn modelId="{5EC70662-8D79-4714-BB34-D504F2FCDF7B}" type="presParOf" srcId="{0FC4B8AC-99FA-465C-B97F-BD4A767BD633}" destId="{363064D7-A89A-479F-AFD0-8727699B637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13457-1383-4BB9-A59F-2DC0938DC6B8}" type="doc">
      <dgm:prSet loTypeId="urn:microsoft.com/office/officeart/2018/2/layout/IconVerticalSolidList" loCatId="icon" qsTypeId="urn:microsoft.com/office/officeart/2005/8/quickstyle/simple1#8" qsCatId="simple" csTypeId="urn:microsoft.com/office/officeart/2005/8/colors/accent2_2#8" csCatId="accent2" phldr="1"/>
      <dgm:spPr/>
      <dgm:t>
        <a:bodyPr/>
        <a:lstStyle/>
        <a:p>
          <a:endParaRPr lang="en-US"/>
        </a:p>
      </dgm:t>
    </dgm:pt>
    <dgm:pt modelId="{24113106-57EC-46C6-AABF-BB7F67E3A1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This is usually what is meant when we say “</a:t>
          </a:r>
          <a:r>
            <a:rPr lang="en-US" b="1"/>
            <a:t>average</a:t>
          </a:r>
          <a:r>
            <a:rPr lang="en-US"/>
            <a:t>”</a:t>
          </a:r>
        </a:p>
      </dgm:t>
    </dgm:pt>
    <dgm:pt modelId="{455A8EF1-4C20-40C7-B199-E7D2E4E1421A}" type="parTrans" cxnId="{6893768F-27B6-4973-BCD1-A22C815FE548}">
      <dgm:prSet/>
      <dgm:spPr/>
      <dgm:t>
        <a:bodyPr/>
        <a:lstStyle/>
        <a:p>
          <a:endParaRPr lang="en-US"/>
        </a:p>
      </dgm:t>
    </dgm:pt>
    <dgm:pt modelId="{DEDC758A-B3C6-408D-AC79-653846419C3B}" type="sibTrans" cxnId="{6893768F-27B6-4973-BCD1-A22C815FE548}">
      <dgm:prSet/>
      <dgm:spPr/>
      <dgm:t>
        <a:bodyPr/>
        <a:lstStyle/>
        <a:p>
          <a:endParaRPr lang="en-US"/>
        </a:p>
      </dgm:t>
    </dgm:pt>
    <dgm:pt modelId="{2B26B174-65C3-45FE-9BE9-B81EB9736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Calculated by taking the </a:t>
          </a:r>
          <a:r>
            <a:rPr lang="en-US" b="1"/>
            <a:t>sum</a:t>
          </a:r>
          <a:r>
            <a:rPr lang="en-US"/>
            <a:t> of all items, and </a:t>
          </a:r>
          <a:r>
            <a:rPr lang="en-US" b="1"/>
            <a:t>dividing</a:t>
          </a:r>
          <a:r>
            <a:rPr lang="en-US"/>
            <a:t> by the number of items</a:t>
          </a:r>
        </a:p>
      </dgm:t>
    </dgm:pt>
    <dgm:pt modelId="{BFEB0767-FC53-45FE-BDE0-BAD2D31557DF}" type="parTrans" cxnId="{43425322-6868-4AB0-8889-CE5408C8D717}">
      <dgm:prSet/>
      <dgm:spPr/>
      <dgm:t>
        <a:bodyPr/>
        <a:lstStyle/>
        <a:p>
          <a:endParaRPr lang="en-US"/>
        </a:p>
      </dgm:t>
    </dgm:pt>
    <dgm:pt modelId="{8115B02F-6422-495A-B828-C2D24471E7C6}" type="sibTrans" cxnId="{43425322-6868-4AB0-8889-CE5408C8D717}">
      <dgm:prSet/>
      <dgm:spPr/>
      <dgm:t>
        <a:bodyPr/>
        <a:lstStyle/>
        <a:p>
          <a:endParaRPr lang="en-US"/>
        </a:p>
      </dgm:t>
    </dgm:pt>
    <dgm:pt modelId="{1E9B21BA-D28D-4538-BD39-E35743DA91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e.g. if my course marks were 82%, 54%, and 68%, my average would be ( 0.82 + 0.54 + 0.68 ) / 3 = 0.68 = 68%</a:t>
          </a:r>
        </a:p>
      </dgm:t>
    </dgm:pt>
    <dgm:pt modelId="{CE3D924B-5B65-4EA8-8D8B-A1ABED222D32}" type="parTrans" cxnId="{AF17322F-8483-4A22-B17B-CC71E41F24F6}">
      <dgm:prSet/>
      <dgm:spPr/>
      <dgm:t>
        <a:bodyPr/>
        <a:lstStyle/>
        <a:p>
          <a:endParaRPr lang="en-US"/>
        </a:p>
      </dgm:t>
    </dgm:pt>
    <dgm:pt modelId="{973C9621-0244-4F92-BE73-D7083A6D0E5F}" type="sibTrans" cxnId="{AF17322F-8483-4A22-B17B-CC71E41F24F6}">
      <dgm:prSet/>
      <dgm:spPr/>
      <dgm:t>
        <a:bodyPr/>
        <a:lstStyle/>
        <a:p>
          <a:endParaRPr lang="en-US"/>
        </a:p>
      </dgm:t>
    </dgm:pt>
    <dgm:pt modelId="{0F25068D-B3C4-4BDC-A773-91DEF4FA87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Isn’t always meaningful… what is the average roll when we roll a die?</a:t>
          </a:r>
        </a:p>
      </dgm:t>
    </dgm:pt>
    <dgm:pt modelId="{0C58A71E-2734-4A06-A09F-187A97B2ACD0}" type="parTrans" cxnId="{39E9F53B-F05F-40BA-81DF-AFC1D5B6720F}">
      <dgm:prSet/>
      <dgm:spPr/>
      <dgm:t>
        <a:bodyPr/>
        <a:lstStyle/>
        <a:p>
          <a:endParaRPr lang="en-US"/>
        </a:p>
      </dgm:t>
    </dgm:pt>
    <dgm:pt modelId="{378478CA-9C1D-4ACC-BEF7-AE22806A6B11}" type="sibTrans" cxnId="{39E9F53B-F05F-40BA-81DF-AFC1D5B6720F}">
      <dgm:prSet/>
      <dgm:spPr/>
      <dgm:t>
        <a:bodyPr/>
        <a:lstStyle/>
        <a:p>
          <a:endParaRPr lang="en-US"/>
        </a:p>
      </dgm:t>
    </dgm:pt>
    <dgm:pt modelId="{FA1AE848-DE22-42E1-8ED7-D7BE0D2649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Easily impacted by </a:t>
          </a:r>
          <a:r>
            <a:rPr lang="en-US" b="1"/>
            <a:t>extreme values</a:t>
          </a:r>
          <a:r>
            <a:rPr lang="en-US"/>
            <a:t>.</a:t>
          </a:r>
        </a:p>
      </dgm:t>
    </dgm:pt>
    <dgm:pt modelId="{ECC52A44-5650-44FF-978A-CF009AC88D6B}" type="parTrans" cxnId="{362E79A1-8714-4CC0-AE80-324C6C05169E}">
      <dgm:prSet/>
      <dgm:spPr/>
      <dgm:t>
        <a:bodyPr/>
        <a:lstStyle/>
        <a:p>
          <a:endParaRPr lang="en-US"/>
        </a:p>
      </dgm:t>
    </dgm:pt>
    <dgm:pt modelId="{80F03724-57A5-4A4E-9677-38E012698EC1}" type="sibTrans" cxnId="{362E79A1-8714-4CC0-AE80-324C6C05169E}">
      <dgm:prSet/>
      <dgm:spPr/>
      <dgm:t>
        <a:bodyPr/>
        <a:lstStyle/>
        <a:p>
          <a:endParaRPr lang="en-US"/>
        </a:p>
      </dgm:t>
    </dgm:pt>
    <dgm:pt modelId="{987A313B-767C-4E8A-AEB0-0DE8199F8D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might we need to know the mean?</a:t>
          </a:r>
        </a:p>
      </dgm:t>
    </dgm:pt>
    <dgm:pt modelId="{7F7D9AB3-D8EA-4FE9-8DE1-7E54402F4B4F}" type="parTrans" cxnId="{84E0CF47-822F-4C64-B724-84F1775A277A}">
      <dgm:prSet/>
      <dgm:spPr/>
      <dgm:t>
        <a:bodyPr/>
        <a:lstStyle/>
        <a:p>
          <a:endParaRPr lang="en-US"/>
        </a:p>
      </dgm:t>
    </dgm:pt>
    <dgm:pt modelId="{2DB24B07-7A93-4AD2-A20D-8A1321F825A0}" type="sibTrans" cxnId="{84E0CF47-822F-4C64-B724-84F1775A277A}">
      <dgm:prSet/>
      <dgm:spPr/>
      <dgm:t>
        <a:bodyPr/>
        <a:lstStyle/>
        <a:p>
          <a:endParaRPr lang="en-US"/>
        </a:p>
      </dgm:t>
    </dgm:pt>
    <dgm:pt modelId="{9B17321F-3C22-4EA3-BDFD-2D9432ED54AA}" type="pres">
      <dgm:prSet presAssocID="{EA413457-1383-4BB9-A59F-2DC0938DC6B8}" presName="root" presStyleCnt="0">
        <dgm:presLayoutVars>
          <dgm:dir/>
          <dgm:resizeHandles val="exact"/>
        </dgm:presLayoutVars>
      </dgm:prSet>
      <dgm:spPr/>
    </dgm:pt>
    <dgm:pt modelId="{5C4A5A8E-A840-401B-A50A-189AEE2B076E}" type="pres">
      <dgm:prSet presAssocID="{24113106-57EC-46C6-AABF-BB7F67E3A176}" presName="compNode" presStyleCnt="0"/>
      <dgm:spPr/>
    </dgm:pt>
    <dgm:pt modelId="{F4229CC9-FDBF-44A8-BC48-131D55F6D0F2}" type="pres">
      <dgm:prSet presAssocID="{24113106-57EC-46C6-AABF-BB7F67E3A176}" presName="bgRect" presStyleLbl="bgShp" presStyleIdx="0" presStyleCnt="5"/>
      <dgm:spPr/>
    </dgm:pt>
    <dgm:pt modelId="{3215A90F-702D-484B-92E3-69AA0C471035}" type="pres">
      <dgm:prSet presAssocID="{24113106-57EC-46C6-AABF-BB7F67E3A17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1ED22F7C-4492-45DA-AE23-F8F480AD5D8F}" type="pres">
      <dgm:prSet presAssocID="{24113106-57EC-46C6-AABF-BB7F67E3A176}" presName="spaceRect" presStyleCnt="0"/>
      <dgm:spPr/>
    </dgm:pt>
    <dgm:pt modelId="{CDE04B02-D315-48E8-ACF8-E26F210E7087}" type="pres">
      <dgm:prSet presAssocID="{24113106-57EC-46C6-AABF-BB7F67E3A176}" presName="parTx" presStyleLbl="revTx" presStyleIdx="0" presStyleCnt="6">
        <dgm:presLayoutVars>
          <dgm:chMax val="0"/>
          <dgm:chPref val="0"/>
        </dgm:presLayoutVars>
      </dgm:prSet>
      <dgm:spPr/>
    </dgm:pt>
    <dgm:pt modelId="{AA60A9F4-C50A-4D2A-B852-27FBA279D9FA}" type="pres">
      <dgm:prSet presAssocID="{DEDC758A-B3C6-408D-AC79-653846419C3B}" presName="sibTrans" presStyleCnt="0"/>
      <dgm:spPr/>
    </dgm:pt>
    <dgm:pt modelId="{E1A7357A-95C9-44E3-9F3F-5B70A5E0D348}" type="pres">
      <dgm:prSet presAssocID="{2B26B174-65C3-45FE-9BE9-B81EB973631A}" presName="compNode" presStyleCnt="0"/>
      <dgm:spPr/>
    </dgm:pt>
    <dgm:pt modelId="{EA68C8B1-F9E5-434C-BBCA-0D810D4BD30B}" type="pres">
      <dgm:prSet presAssocID="{2B26B174-65C3-45FE-9BE9-B81EB973631A}" presName="bgRect" presStyleLbl="bgShp" presStyleIdx="1" presStyleCnt="5"/>
      <dgm:spPr/>
    </dgm:pt>
    <dgm:pt modelId="{648F4791-ADE2-49D0-9B58-5909D116CDB1}" type="pres">
      <dgm:prSet presAssocID="{2B26B174-65C3-45FE-9BE9-B81EB973631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E94D9067-8B72-44D8-8D60-BAACC2A5F74F}" type="pres">
      <dgm:prSet presAssocID="{2B26B174-65C3-45FE-9BE9-B81EB973631A}" presName="spaceRect" presStyleCnt="0"/>
      <dgm:spPr/>
    </dgm:pt>
    <dgm:pt modelId="{999D5C90-61E3-4535-B769-E1E716F87FAF}" type="pres">
      <dgm:prSet presAssocID="{2B26B174-65C3-45FE-9BE9-B81EB973631A}" presName="parTx" presStyleLbl="revTx" presStyleIdx="1" presStyleCnt="6">
        <dgm:presLayoutVars>
          <dgm:chMax val="0"/>
          <dgm:chPref val="0"/>
        </dgm:presLayoutVars>
      </dgm:prSet>
      <dgm:spPr/>
    </dgm:pt>
    <dgm:pt modelId="{CE2B260A-E833-4B78-92D0-2D477B59C427}" type="pres">
      <dgm:prSet presAssocID="{2B26B174-65C3-45FE-9BE9-B81EB973631A}" presName="desTx" presStyleLbl="revTx" presStyleIdx="2" presStyleCnt="6">
        <dgm:presLayoutVars/>
      </dgm:prSet>
      <dgm:spPr/>
    </dgm:pt>
    <dgm:pt modelId="{6815A9CB-6DDE-4450-8DEF-33F016CA5940}" type="pres">
      <dgm:prSet presAssocID="{8115B02F-6422-495A-B828-C2D24471E7C6}" presName="sibTrans" presStyleCnt="0"/>
      <dgm:spPr/>
    </dgm:pt>
    <dgm:pt modelId="{8E9EB49E-B2E7-42B2-B36B-D672F0EDB60B}" type="pres">
      <dgm:prSet presAssocID="{0F25068D-B3C4-4BDC-A773-91DEF4FA87D4}" presName="compNode" presStyleCnt="0"/>
      <dgm:spPr/>
    </dgm:pt>
    <dgm:pt modelId="{606AFFFA-42AF-45E2-9D85-E1AADECF2774}" type="pres">
      <dgm:prSet presAssocID="{0F25068D-B3C4-4BDC-A773-91DEF4FA87D4}" presName="bgRect" presStyleLbl="bgShp" presStyleIdx="2" presStyleCnt="5"/>
      <dgm:spPr/>
    </dgm:pt>
    <dgm:pt modelId="{93935B09-7BD2-4E93-A8DD-AE43C0062ABA}" type="pres">
      <dgm:prSet presAssocID="{0F25068D-B3C4-4BDC-A773-91DEF4FA87D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912B604C-BC39-4FCB-B369-3875B930D029}" type="pres">
      <dgm:prSet presAssocID="{0F25068D-B3C4-4BDC-A773-91DEF4FA87D4}" presName="spaceRect" presStyleCnt="0"/>
      <dgm:spPr/>
    </dgm:pt>
    <dgm:pt modelId="{DAF8CC25-1E68-4C78-A699-485DBA3B5312}" type="pres">
      <dgm:prSet presAssocID="{0F25068D-B3C4-4BDC-A773-91DEF4FA87D4}" presName="parTx" presStyleLbl="revTx" presStyleIdx="3" presStyleCnt="6">
        <dgm:presLayoutVars>
          <dgm:chMax val="0"/>
          <dgm:chPref val="0"/>
        </dgm:presLayoutVars>
      </dgm:prSet>
      <dgm:spPr/>
    </dgm:pt>
    <dgm:pt modelId="{4CF25F1E-FD50-44A5-8AE9-28949645A4A0}" type="pres">
      <dgm:prSet presAssocID="{378478CA-9C1D-4ACC-BEF7-AE22806A6B11}" presName="sibTrans" presStyleCnt="0"/>
      <dgm:spPr/>
    </dgm:pt>
    <dgm:pt modelId="{336FC2BE-6C8C-4186-A2D1-80CFC7AD4077}" type="pres">
      <dgm:prSet presAssocID="{FA1AE848-DE22-42E1-8ED7-D7BE0D2649BE}" presName="compNode" presStyleCnt="0"/>
      <dgm:spPr/>
    </dgm:pt>
    <dgm:pt modelId="{1B7A0F2F-55D9-4B47-A6E6-0FB94C3A2CEF}" type="pres">
      <dgm:prSet presAssocID="{FA1AE848-DE22-42E1-8ED7-D7BE0D2649BE}" presName="bgRect" presStyleLbl="bgShp" presStyleIdx="3" presStyleCnt="5"/>
      <dgm:spPr/>
    </dgm:pt>
    <dgm:pt modelId="{8EBC428F-5410-436E-9614-27CBE0F27E8C}" type="pres">
      <dgm:prSet presAssocID="{FA1AE848-DE22-42E1-8ED7-D7BE0D2649B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w Temperature"/>
        </a:ext>
      </dgm:extLst>
    </dgm:pt>
    <dgm:pt modelId="{1700363D-2EAC-4D3C-8CF9-527E606ED134}" type="pres">
      <dgm:prSet presAssocID="{FA1AE848-DE22-42E1-8ED7-D7BE0D2649BE}" presName="spaceRect" presStyleCnt="0"/>
      <dgm:spPr/>
    </dgm:pt>
    <dgm:pt modelId="{DC1A99BB-4E84-40C8-A8F9-092B7D2B9335}" type="pres">
      <dgm:prSet presAssocID="{FA1AE848-DE22-42E1-8ED7-D7BE0D2649BE}" presName="parTx" presStyleLbl="revTx" presStyleIdx="4" presStyleCnt="6">
        <dgm:presLayoutVars>
          <dgm:chMax val="0"/>
          <dgm:chPref val="0"/>
        </dgm:presLayoutVars>
      </dgm:prSet>
      <dgm:spPr/>
    </dgm:pt>
    <dgm:pt modelId="{550CC8A4-DB14-4E8B-9456-30F86C5BD4FB}" type="pres">
      <dgm:prSet presAssocID="{80F03724-57A5-4A4E-9677-38E012698EC1}" presName="sibTrans" presStyleCnt="0"/>
      <dgm:spPr/>
    </dgm:pt>
    <dgm:pt modelId="{6D3A7615-6C3C-446A-A197-D264E99B44B5}" type="pres">
      <dgm:prSet presAssocID="{987A313B-767C-4E8A-AEB0-0DE8199F8D6C}" presName="compNode" presStyleCnt="0"/>
      <dgm:spPr/>
    </dgm:pt>
    <dgm:pt modelId="{ED865A3C-BCF9-4631-B103-10BCF1203B9E}" type="pres">
      <dgm:prSet presAssocID="{987A313B-767C-4E8A-AEB0-0DE8199F8D6C}" presName="bgRect" presStyleLbl="bgShp" presStyleIdx="4" presStyleCnt="5"/>
      <dgm:spPr/>
    </dgm:pt>
    <dgm:pt modelId="{121C99FF-6497-4462-A236-1CC88C04442C}" type="pres">
      <dgm:prSet presAssocID="{987A313B-767C-4E8A-AEB0-0DE8199F8D6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18C7CFD-66B4-4F0B-8F19-FB4C05A5FFF5}" type="pres">
      <dgm:prSet presAssocID="{987A313B-767C-4E8A-AEB0-0DE8199F8D6C}" presName="spaceRect" presStyleCnt="0"/>
      <dgm:spPr/>
    </dgm:pt>
    <dgm:pt modelId="{6B24CBB1-82AB-4A04-BEE1-460C6C823155}" type="pres">
      <dgm:prSet presAssocID="{987A313B-767C-4E8A-AEB0-0DE8199F8D6C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DA35605-9EED-4040-B123-AFA912ED73A1}" type="presOf" srcId="{EA413457-1383-4BB9-A59F-2DC0938DC6B8}" destId="{9B17321F-3C22-4EA3-BDFD-2D9432ED54AA}" srcOrd="0" destOrd="0" presId="urn:microsoft.com/office/officeart/2018/2/layout/IconVerticalSolidList"/>
    <dgm:cxn modelId="{43425322-6868-4AB0-8889-CE5408C8D717}" srcId="{EA413457-1383-4BB9-A59F-2DC0938DC6B8}" destId="{2B26B174-65C3-45FE-9BE9-B81EB973631A}" srcOrd="1" destOrd="0" parTransId="{BFEB0767-FC53-45FE-BDE0-BAD2D31557DF}" sibTransId="{8115B02F-6422-495A-B828-C2D24471E7C6}"/>
    <dgm:cxn modelId="{72B3DF26-A469-44FC-911C-1040A9976510}" type="presOf" srcId="{987A313B-767C-4E8A-AEB0-0DE8199F8D6C}" destId="{6B24CBB1-82AB-4A04-BEE1-460C6C823155}" srcOrd="0" destOrd="0" presId="urn:microsoft.com/office/officeart/2018/2/layout/IconVerticalSolidList"/>
    <dgm:cxn modelId="{AF17322F-8483-4A22-B17B-CC71E41F24F6}" srcId="{2B26B174-65C3-45FE-9BE9-B81EB973631A}" destId="{1E9B21BA-D28D-4538-BD39-E35743DA916E}" srcOrd="0" destOrd="0" parTransId="{CE3D924B-5B65-4EA8-8D8B-A1ABED222D32}" sibTransId="{973C9621-0244-4F92-BE73-D7083A6D0E5F}"/>
    <dgm:cxn modelId="{39E9F53B-F05F-40BA-81DF-AFC1D5B6720F}" srcId="{EA413457-1383-4BB9-A59F-2DC0938DC6B8}" destId="{0F25068D-B3C4-4BDC-A773-91DEF4FA87D4}" srcOrd="2" destOrd="0" parTransId="{0C58A71E-2734-4A06-A09F-187A97B2ACD0}" sibTransId="{378478CA-9C1D-4ACC-BEF7-AE22806A6B11}"/>
    <dgm:cxn modelId="{84E0CF47-822F-4C64-B724-84F1775A277A}" srcId="{EA413457-1383-4BB9-A59F-2DC0938DC6B8}" destId="{987A313B-767C-4E8A-AEB0-0DE8199F8D6C}" srcOrd="4" destOrd="0" parTransId="{7F7D9AB3-D8EA-4FE9-8DE1-7E54402F4B4F}" sibTransId="{2DB24B07-7A93-4AD2-A20D-8A1321F825A0}"/>
    <dgm:cxn modelId="{C990426A-5342-43F6-A72B-DFAD398D85F6}" type="presOf" srcId="{FA1AE848-DE22-42E1-8ED7-D7BE0D2649BE}" destId="{DC1A99BB-4E84-40C8-A8F9-092B7D2B9335}" srcOrd="0" destOrd="0" presId="urn:microsoft.com/office/officeart/2018/2/layout/IconVerticalSolidList"/>
    <dgm:cxn modelId="{F6736970-AA53-43EE-83D9-F3D4CB630E2B}" type="presOf" srcId="{1E9B21BA-D28D-4538-BD39-E35743DA916E}" destId="{CE2B260A-E833-4B78-92D0-2D477B59C427}" srcOrd="0" destOrd="0" presId="urn:microsoft.com/office/officeart/2018/2/layout/IconVerticalSolidList"/>
    <dgm:cxn modelId="{186BD974-3023-4509-83C4-35AA5F8398FD}" type="presOf" srcId="{0F25068D-B3C4-4BDC-A773-91DEF4FA87D4}" destId="{DAF8CC25-1E68-4C78-A699-485DBA3B5312}" srcOrd="0" destOrd="0" presId="urn:microsoft.com/office/officeart/2018/2/layout/IconVerticalSolidList"/>
    <dgm:cxn modelId="{6893768F-27B6-4973-BCD1-A22C815FE548}" srcId="{EA413457-1383-4BB9-A59F-2DC0938DC6B8}" destId="{24113106-57EC-46C6-AABF-BB7F67E3A176}" srcOrd="0" destOrd="0" parTransId="{455A8EF1-4C20-40C7-B199-E7D2E4E1421A}" sibTransId="{DEDC758A-B3C6-408D-AC79-653846419C3B}"/>
    <dgm:cxn modelId="{362E79A1-8714-4CC0-AE80-324C6C05169E}" srcId="{EA413457-1383-4BB9-A59F-2DC0938DC6B8}" destId="{FA1AE848-DE22-42E1-8ED7-D7BE0D2649BE}" srcOrd="3" destOrd="0" parTransId="{ECC52A44-5650-44FF-978A-CF009AC88D6B}" sibTransId="{80F03724-57A5-4A4E-9677-38E012698EC1}"/>
    <dgm:cxn modelId="{0A9EE8C1-603E-461A-8108-AA21A51C0E7C}" type="presOf" srcId="{24113106-57EC-46C6-AABF-BB7F67E3A176}" destId="{CDE04B02-D315-48E8-ACF8-E26F210E7087}" srcOrd="0" destOrd="0" presId="urn:microsoft.com/office/officeart/2018/2/layout/IconVerticalSolidList"/>
    <dgm:cxn modelId="{D59906C6-20C3-4FC0-B156-22F3170AF189}" type="presOf" srcId="{2B26B174-65C3-45FE-9BE9-B81EB973631A}" destId="{999D5C90-61E3-4535-B769-E1E716F87FAF}" srcOrd="0" destOrd="0" presId="urn:microsoft.com/office/officeart/2018/2/layout/IconVerticalSolidList"/>
    <dgm:cxn modelId="{9A0C7161-8DAC-4A3B-A441-712966F07EE2}" type="presParOf" srcId="{9B17321F-3C22-4EA3-BDFD-2D9432ED54AA}" destId="{5C4A5A8E-A840-401B-A50A-189AEE2B076E}" srcOrd="0" destOrd="0" presId="urn:microsoft.com/office/officeart/2018/2/layout/IconVerticalSolidList"/>
    <dgm:cxn modelId="{7F85AFAC-4F4A-4991-9A28-3A6093C54D25}" type="presParOf" srcId="{5C4A5A8E-A840-401B-A50A-189AEE2B076E}" destId="{F4229CC9-FDBF-44A8-BC48-131D55F6D0F2}" srcOrd="0" destOrd="0" presId="urn:microsoft.com/office/officeart/2018/2/layout/IconVerticalSolidList"/>
    <dgm:cxn modelId="{13DF5929-CDBA-4431-9C74-1F009172ED1D}" type="presParOf" srcId="{5C4A5A8E-A840-401B-A50A-189AEE2B076E}" destId="{3215A90F-702D-484B-92E3-69AA0C471035}" srcOrd="1" destOrd="0" presId="urn:microsoft.com/office/officeart/2018/2/layout/IconVerticalSolidList"/>
    <dgm:cxn modelId="{5353EF7A-A247-48C2-8B44-8076E727A2ED}" type="presParOf" srcId="{5C4A5A8E-A840-401B-A50A-189AEE2B076E}" destId="{1ED22F7C-4492-45DA-AE23-F8F480AD5D8F}" srcOrd="2" destOrd="0" presId="urn:microsoft.com/office/officeart/2018/2/layout/IconVerticalSolidList"/>
    <dgm:cxn modelId="{0B940157-819A-4E1F-AB1D-8F10ADFD8C0E}" type="presParOf" srcId="{5C4A5A8E-A840-401B-A50A-189AEE2B076E}" destId="{CDE04B02-D315-48E8-ACF8-E26F210E7087}" srcOrd="3" destOrd="0" presId="urn:microsoft.com/office/officeart/2018/2/layout/IconVerticalSolidList"/>
    <dgm:cxn modelId="{18A343F1-0D5A-4F6D-A195-4472E2177ECB}" type="presParOf" srcId="{9B17321F-3C22-4EA3-BDFD-2D9432ED54AA}" destId="{AA60A9F4-C50A-4D2A-B852-27FBA279D9FA}" srcOrd="1" destOrd="0" presId="urn:microsoft.com/office/officeart/2018/2/layout/IconVerticalSolidList"/>
    <dgm:cxn modelId="{33E6B068-552D-4602-BBFD-47021A5C97C6}" type="presParOf" srcId="{9B17321F-3C22-4EA3-BDFD-2D9432ED54AA}" destId="{E1A7357A-95C9-44E3-9F3F-5B70A5E0D348}" srcOrd="2" destOrd="0" presId="urn:microsoft.com/office/officeart/2018/2/layout/IconVerticalSolidList"/>
    <dgm:cxn modelId="{48B81216-D703-410A-B8EF-C2227D1553D6}" type="presParOf" srcId="{E1A7357A-95C9-44E3-9F3F-5B70A5E0D348}" destId="{EA68C8B1-F9E5-434C-BBCA-0D810D4BD30B}" srcOrd="0" destOrd="0" presId="urn:microsoft.com/office/officeart/2018/2/layout/IconVerticalSolidList"/>
    <dgm:cxn modelId="{EBF08B55-31E7-4209-A41A-0D5E7CD76A60}" type="presParOf" srcId="{E1A7357A-95C9-44E3-9F3F-5B70A5E0D348}" destId="{648F4791-ADE2-49D0-9B58-5909D116CDB1}" srcOrd="1" destOrd="0" presId="urn:microsoft.com/office/officeart/2018/2/layout/IconVerticalSolidList"/>
    <dgm:cxn modelId="{1A603A2E-F4A3-41CE-8246-D7B2D7094FF0}" type="presParOf" srcId="{E1A7357A-95C9-44E3-9F3F-5B70A5E0D348}" destId="{E94D9067-8B72-44D8-8D60-BAACC2A5F74F}" srcOrd="2" destOrd="0" presId="urn:microsoft.com/office/officeart/2018/2/layout/IconVerticalSolidList"/>
    <dgm:cxn modelId="{0F7D485D-2178-4CBA-920A-F83C44D9C714}" type="presParOf" srcId="{E1A7357A-95C9-44E3-9F3F-5B70A5E0D348}" destId="{999D5C90-61E3-4535-B769-E1E716F87FAF}" srcOrd="3" destOrd="0" presId="urn:microsoft.com/office/officeart/2018/2/layout/IconVerticalSolidList"/>
    <dgm:cxn modelId="{4F4C2344-7A91-4A32-9B11-4BD924ABE4B4}" type="presParOf" srcId="{E1A7357A-95C9-44E3-9F3F-5B70A5E0D348}" destId="{CE2B260A-E833-4B78-92D0-2D477B59C427}" srcOrd="4" destOrd="0" presId="urn:microsoft.com/office/officeart/2018/2/layout/IconVerticalSolidList"/>
    <dgm:cxn modelId="{984BB896-0607-490B-B947-D2DBD61481D7}" type="presParOf" srcId="{9B17321F-3C22-4EA3-BDFD-2D9432ED54AA}" destId="{6815A9CB-6DDE-4450-8DEF-33F016CA5940}" srcOrd="3" destOrd="0" presId="urn:microsoft.com/office/officeart/2018/2/layout/IconVerticalSolidList"/>
    <dgm:cxn modelId="{DCD94324-B4B4-4CBF-99F6-44FE05B7BE18}" type="presParOf" srcId="{9B17321F-3C22-4EA3-BDFD-2D9432ED54AA}" destId="{8E9EB49E-B2E7-42B2-B36B-D672F0EDB60B}" srcOrd="4" destOrd="0" presId="urn:microsoft.com/office/officeart/2018/2/layout/IconVerticalSolidList"/>
    <dgm:cxn modelId="{1F7876B3-7356-4528-83E3-6BEB6498A462}" type="presParOf" srcId="{8E9EB49E-B2E7-42B2-B36B-D672F0EDB60B}" destId="{606AFFFA-42AF-45E2-9D85-E1AADECF2774}" srcOrd="0" destOrd="0" presId="urn:microsoft.com/office/officeart/2018/2/layout/IconVerticalSolidList"/>
    <dgm:cxn modelId="{F4772033-B8E2-44A2-A3C9-E85DEC1A8D3A}" type="presParOf" srcId="{8E9EB49E-B2E7-42B2-B36B-D672F0EDB60B}" destId="{93935B09-7BD2-4E93-A8DD-AE43C0062ABA}" srcOrd="1" destOrd="0" presId="urn:microsoft.com/office/officeart/2018/2/layout/IconVerticalSolidList"/>
    <dgm:cxn modelId="{45357DC6-E3C6-4435-8AB8-9CCEEDF0BD14}" type="presParOf" srcId="{8E9EB49E-B2E7-42B2-B36B-D672F0EDB60B}" destId="{912B604C-BC39-4FCB-B369-3875B930D029}" srcOrd="2" destOrd="0" presId="urn:microsoft.com/office/officeart/2018/2/layout/IconVerticalSolidList"/>
    <dgm:cxn modelId="{6D18999E-0D1E-409D-83A3-D880BC7148C9}" type="presParOf" srcId="{8E9EB49E-B2E7-42B2-B36B-D672F0EDB60B}" destId="{DAF8CC25-1E68-4C78-A699-485DBA3B5312}" srcOrd="3" destOrd="0" presId="urn:microsoft.com/office/officeart/2018/2/layout/IconVerticalSolidList"/>
    <dgm:cxn modelId="{667EDD12-8692-4D85-8367-49AC6C3E745D}" type="presParOf" srcId="{9B17321F-3C22-4EA3-BDFD-2D9432ED54AA}" destId="{4CF25F1E-FD50-44A5-8AE9-28949645A4A0}" srcOrd="5" destOrd="0" presId="urn:microsoft.com/office/officeart/2018/2/layout/IconVerticalSolidList"/>
    <dgm:cxn modelId="{EE3118DB-2DD9-43A9-927D-7C0D91C18710}" type="presParOf" srcId="{9B17321F-3C22-4EA3-BDFD-2D9432ED54AA}" destId="{336FC2BE-6C8C-4186-A2D1-80CFC7AD4077}" srcOrd="6" destOrd="0" presId="urn:microsoft.com/office/officeart/2018/2/layout/IconVerticalSolidList"/>
    <dgm:cxn modelId="{C6FFFA32-EDC3-43DB-8141-45CA8DFF48CC}" type="presParOf" srcId="{336FC2BE-6C8C-4186-A2D1-80CFC7AD4077}" destId="{1B7A0F2F-55D9-4B47-A6E6-0FB94C3A2CEF}" srcOrd="0" destOrd="0" presId="urn:microsoft.com/office/officeart/2018/2/layout/IconVerticalSolidList"/>
    <dgm:cxn modelId="{2B9563EC-6C33-4154-8A2E-8EE8AD767443}" type="presParOf" srcId="{336FC2BE-6C8C-4186-A2D1-80CFC7AD4077}" destId="{8EBC428F-5410-436E-9614-27CBE0F27E8C}" srcOrd="1" destOrd="0" presId="urn:microsoft.com/office/officeart/2018/2/layout/IconVerticalSolidList"/>
    <dgm:cxn modelId="{D6E6CF9A-65BF-417C-8A96-B3DE7DB6AC5E}" type="presParOf" srcId="{336FC2BE-6C8C-4186-A2D1-80CFC7AD4077}" destId="{1700363D-2EAC-4D3C-8CF9-527E606ED134}" srcOrd="2" destOrd="0" presId="urn:microsoft.com/office/officeart/2018/2/layout/IconVerticalSolidList"/>
    <dgm:cxn modelId="{37449E72-6023-4C0B-80C8-A6CEC0F24493}" type="presParOf" srcId="{336FC2BE-6C8C-4186-A2D1-80CFC7AD4077}" destId="{DC1A99BB-4E84-40C8-A8F9-092B7D2B9335}" srcOrd="3" destOrd="0" presId="urn:microsoft.com/office/officeart/2018/2/layout/IconVerticalSolidList"/>
    <dgm:cxn modelId="{B978E996-BE61-4133-8143-1B81A47D6E41}" type="presParOf" srcId="{9B17321F-3C22-4EA3-BDFD-2D9432ED54AA}" destId="{550CC8A4-DB14-4E8B-9456-30F86C5BD4FB}" srcOrd="7" destOrd="0" presId="urn:microsoft.com/office/officeart/2018/2/layout/IconVerticalSolidList"/>
    <dgm:cxn modelId="{C15BA0D5-D40F-49CA-A4D3-FE96179B3F1F}" type="presParOf" srcId="{9B17321F-3C22-4EA3-BDFD-2D9432ED54AA}" destId="{6D3A7615-6C3C-446A-A197-D264E99B44B5}" srcOrd="8" destOrd="0" presId="urn:microsoft.com/office/officeart/2018/2/layout/IconVerticalSolidList"/>
    <dgm:cxn modelId="{0D1FBE1E-2BBC-4999-82EF-7E48C1046A89}" type="presParOf" srcId="{6D3A7615-6C3C-446A-A197-D264E99B44B5}" destId="{ED865A3C-BCF9-4631-B103-10BCF1203B9E}" srcOrd="0" destOrd="0" presId="urn:microsoft.com/office/officeart/2018/2/layout/IconVerticalSolidList"/>
    <dgm:cxn modelId="{19CA8322-A2D2-4084-BE69-3FCC8ACBD673}" type="presParOf" srcId="{6D3A7615-6C3C-446A-A197-D264E99B44B5}" destId="{121C99FF-6497-4462-A236-1CC88C04442C}" srcOrd="1" destOrd="0" presId="urn:microsoft.com/office/officeart/2018/2/layout/IconVerticalSolidList"/>
    <dgm:cxn modelId="{69BED007-E096-4F51-B32B-9B560EE6DF90}" type="presParOf" srcId="{6D3A7615-6C3C-446A-A197-D264E99B44B5}" destId="{818C7CFD-66B4-4F0B-8F19-FB4C05A5FFF5}" srcOrd="2" destOrd="0" presId="urn:microsoft.com/office/officeart/2018/2/layout/IconVerticalSolidList"/>
    <dgm:cxn modelId="{BB43F2D5-4928-41B5-8EE1-183ED1C2A773}" type="presParOf" srcId="{6D3A7615-6C3C-446A-A197-D264E99B44B5}" destId="{6B24CBB1-82AB-4A04-BEE1-460C6C8231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7ECD14-94D5-4874-8E83-D5806AB3B067}" type="doc">
      <dgm:prSet loTypeId="urn:microsoft.com/office/officeart/2005/8/layout/default" loCatId="list" qsTypeId="urn:microsoft.com/office/officeart/2005/8/quickstyle/simple4#4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DB88158F-F8DB-4366-8AA7-AE0E16C63E86}">
      <dgm:prSet/>
      <dgm:spPr/>
      <dgm:t>
        <a:bodyPr/>
        <a:lstStyle/>
        <a:p>
          <a:r>
            <a:rPr lang="en-US" b="0" i="0"/>
            <a:t>Most simply: median is the </a:t>
          </a:r>
          <a:r>
            <a:rPr lang="en-US" b="1" i="0"/>
            <a:t>middle</a:t>
          </a:r>
          <a:r>
            <a:rPr lang="en-US" b="0" i="0"/>
            <a:t> number.</a:t>
          </a:r>
          <a:endParaRPr lang="en-US"/>
        </a:p>
      </dgm:t>
    </dgm:pt>
    <dgm:pt modelId="{07861135-C501-42BD-9182-535CB75C6178}" type="parTrans" cxnId="{999C14A0-C5C8-40AB-8D2E-92529429D18C}">
      <dgm:prSet/>
      <dgm:spPr/>
      <dgm:t>
        <a:bodyPr/>
        <a:lstStyle/>
        <a:p>
          <a:endParaRPr lang="en-US"/>
        </a:p>
      </dgm:t>
    </dgm:pt>
    <dgm:pt modelId="{1354D68C-1703-4747-9DAE-7ECBA8E9EEE1}" type="sibTrans" cxnId="{999C14A0-C5C8-40AB-8D2E-92529429D18C}">
      <dgm:prSet/>
      <dgm:spPr/>
      <dgm:t>
        <a:bodyPr/>
        <a:lstStyle/>
        <a:p>
          <a:endParaRPr lang="en-US"/>
        </a:p>
      </dgm:t>
    </dgm:pt>
    <dgm:pt modelId="{54D65DE9-15AE-47AE-8605-8B51DF825509}">
      <dgm:prSet/>
      <dgm:spPr/>
      <dgm:t>
        <a:bodyPr/>
        <a:lstStyle/>
        <a:p>
          <a:r>
            <a:rPr lang="en-US" b="0" i="0"/>
            <a:t>Helps us understand what the middle of the distribution looks like.</a:t>
          </a:r>
          <a:endParaRPr lang="en-US"/>
        </a:p>
      </dgm:t>
    </dgm:pt>
    <dgm:pt modelId="{4DDFF21E-F69A-4073-8727-F0E981A51D83}" type="parTrans" cxnId="{1391452C-7F2E-4A56-947A-AE1F9D056515}">
      <dgm:prSet/>
      <dgm:spPr/>
      <dgm:t>
        <a:bodyPr/>
        <a:lstStyle/>
        <a:p>
          <a:endParaRPr lang="en-US"/>
        </a:p>
      </dgm:t>
    </dgm:pt>
    <dgm:pt modelId="{0A664702-FBA1-4C32-9AEA-8B4044A353AC}" type="sibTrans" cxnId="{1391452C-7F2E-4A56-947A-AE1F9D056515}">
      <dgm:prSet/>
      <dgm:spPr/>
      <dgm:t>
        <a:bodyPr/>
        <a:lstStyle/>
        <a:p>
          <a:endParaRPr lang="en-US"/>
        </a:p>
      </dgm:t>
    </dgm:pt>
    <dgm:pt modelId="{07C882E8-EEF5-4210-87E3-02E111B103F6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0" i="0"/>
            <a:t>The mode is the most </a:t>
          </a:r>
          <a:r>
            <a:rPr lang="en-US" b="1" i="0"/>
            <a:t>common</a:t>
          </a:r>
          <a:r>
            <a:rPr lang="en-US" b="0" i="0"/>
            <a:t> number.</a:t>
          </a:r>
          <a:endParaRPr lang="en-US"/>
        </a:p>
      </dgm:t>
    </dgm:pt>
    <dgm:pt modelId="{B616BAA1-DF14-4943-87C6-F2F6634396C6}" type="parTrans" cxnId="{01257B59-238C-47E2-BF00-62F84B6BD448}">
      <dgm:prSet/>
      <dgm:spPr/>
      <dgm:t>
        <a:bodyPr/>
        <a:lstStyle/>
        <a:p>
          <a:endParaRPr lang="en-US"/>
        </a:p>
      </dgm:t>
    </dgm:pt>
    <dgm:pt modelId="{96291A53-1E56-4E04-8D70-0FA7295337C3}" type="sibTrans" cxnId="{01257B59-238C-47E2-BF00-62F84B6BD448}">
      <dgm:prSet/>
      <dgm:spPr/>
      <dgm:t>
        <a:bodyPr/>
        <a:lstStyle/>
        <a:p>
          <a:endParaRPr lang="en-US"/>
        </a:p>
      </dgm:t>
    </dgm:pt>
    <dgm:pt modelId="{C7692EAD-D4F3-4A95-AC23-BDA4EE4A5ADD}">
      <dgm:prSet>
        <dgm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b="0" i="0"/>
            <a:t>Sometimes the distribution has multiple modes (e.g. bimodal).</a:t>
          </a:r>
          <a:endParaRPr lang="en-US"/>
        </a:p>
      </dgm:t>
    </dgm:pt>
    <dgm:pt modelId="{A9ED2A32-8B7D-42B4-9BBF-3CF5370C9CF5}" type="parTrans" cxnId="{34A4DA32-ECC4-4019-BC66-CD8BE6AC9401}">
      <dgm:prSet/>
      <dgm:spPr/>
      <dgm:t>
        <a:bodyPr/>
        <a:lstStyle/>
        <a:p>
          <a:endParaRPr lang="en-US"/>
        </a:p>
      </dgm:t>
    </dgm:pt>
    <dgm:pt modelId="{47A504B5-7B7C-4EBE-A949-C2D87BE432FD}" type="sibTrans" cxnId="{34A4DA32-ECC4-4019-BC66-CD8BE6AC9401}">
      <dgm:prSet/>
      <dgm:spPr/>
      <dgm:t>
        <a:bodyPr/>
        <a:lstStyle/>
        <a:p>
          <a:endParaRPr lang="en-US"/>
        </a:p>
      </dgm:t>
    </dgm:pt>
    <dgm:pt modelId="{4779D937-9FD2-4D9B-A3EF-847022DC7694}" type="pres">
      <dgm:prSet presAssocID="{887ECD14-94D5-4874-8E83-D5806AB3B067}" presName="diagram" presStyleCnt="0">
        <dgm:presLayoutVars>
          <dgm:dir/>
          <dgm:resizeHandles val="exact"/>
        </dgm:presLayoutVars>
      </dgm:prSet>
      <dgm:spPr/>
    </dgm:pt>
    <dgm:pt modelId="{DAC9A12F-A208-45A4-B110-0D15B98B1A30}" type="pres">
      <dgm:prSet presAssocID="{DB88158F-F8DB-4366-8AA7-AE0E16C63E86}" presName="node" presStyleLbl="node1" presStyleIdx="0" presStyleCnt="4">
        <dgm:presLayoutVars>
          <dgm:bulletEnabled val="1"/>
        </dgm:presLayoutVars>
      </dgm:prSet>
      <dgm:spPr/>
    </dgm:pt>
    <dgm:pt modelId="{71237820-A748-4B07-89CE-AD4C96D68CCC}" type="pres">
      <dgm:prSet presAssocID="{1354D68C-1703-4747-9DAE-7ECBA8E9EEE1}" presName="sibTrans" presStyleCnt="0"/>
      <dgm:spPr/>
    </dgm:pt>
    <dgm:pt modelId="{767CC7D5-D2F9-44DB-BC4B-C7EA2B2E25F7}" type="pres">
      <dgm:prSet presAssocID="{54D65DE9-15AE-47AE-8605-8B51DF825509}" presName="node" presStyleLbl="node1" presStyleIdx="1" presStyleCnt="4">
        <dgm:presLayoutVars>
          <dgm:bulletEnabled val="1"/>
        </dgm:presLayoutVars>
      </dgm:prSet>
      <dgm:spPr/>
    </dgm:pt>
    <dgm:pt modelId="{2F318699-277B-42C2-8408-FE6577E2B4C1}" type="pres">
      <dgm:prSet presAssocID="{0A664702-FBA1-4C32-9AEA-8B4044A353AC}" presName="sibTrans" presStyleCnt="0"/>
      <dgm:spPr/>
    </dgm:pt>
    <dgm:pt modelId="{8657AEFE-1C4F-40B4-B828-D39C3B360CDB}" type="pres">
      <dgm:prSet presAssocID="{07C882E8-EEF5-4210-87E3-02E111B103F6}" presName="node" presStyleLbl="node1" presStyleIdx="2" presStyleCnt="4">
        <dgm:presLayoutVars>
          <dgm:bulletEnabled val="1"/>
        </dgm:presLayoutVars>
      </dgm:prSet>
      <dgm:spPr/>
    </dgm:pt>
    <dgm:pt modelId="{6BDCD9AD-D812-4DAE-896F-6638058E6C13}" type="pres">
      <dgm:prSet presAssocID="{96291A53-1E56-4E04-8D70-0FA7295337C3}" presName="sibTrans" presStyleCnt="0"/>
      <dgm:spPr/>
    </dgm:pt>
    <dgm:pt modelId="{7523F0AF-8CC5-4059-B23C-8AC66B39F3E5}" type="pres">
      <dgm:prSet presAssocID="{C7692EAD-D4F3-4A95-AC23-BDA4EE4A5ADD}" presName="node" presStyleLbl="node1" presStyleIdx="3" presStyleCnt="4">
        <dgm:presLayoutVars>
          <dgm:bulletEnabled val="1"/>
        </dgm:presLayoutVars>
      </dgm:prSet>
      <dgm:spPr/>
    </dgm:pt>
  </dgm:ptLst>
  <dgm:cxnLst>
    <dgm:cxn modelId="{1505A40D-9C1B-4061-AF8F-51640FBB01F0}" type="presOf" srcId="{887ECD14-94D5-4874-8E83-D5806AB3B067}" destId="{4779D937-9FD2-4D9B-A3EF-847022DC7694}" srcOrd="0" destOrd="0" presId="urn:microsoft.com/office/officeart/2005/8/layout/default"/>
    <dgm:cxn modelId="{74DF5116-C5A8-4332-8D00-441C61588D16}" type="presOf" srcId="{DB88158F-F8DB-4366-8AA7-AE0E16C63E86}" destId="{DAC9A12F-A208-45A4-B110-0D15B98B1A30}" srcOrd="0" destOrd="0" presId="urn:microsoft.com/office/officeart/2005/8/layout/default"/>
    <dgm:cxn modelId="{1391452C-7F2E-4A56-947A-AE1F9D056515}" srcId="{887ECD14-94D5-4874-8E83-D5806AB3B067}" destId="{54D65DE9-15AE-47AE-8605-8B51DF825509}" srcOrd="1" destOrd="0" parTransId="{4DDFF21E-F69A-4073-8727-F0E981A51D83}" sibTransId="{0A664702-FBA1-4C32-9AEA-8B4044A353AC}"/>
    <dgm:cxn modelId="{34A4DA32-ECC4-4019-BC66-CD8BE6AC9401}" srcId="{887ECD14-94D5-4874-8E83-D5806AB3B067}" destId="{C7692EAD-D4F3-4A95-AC23-BDA4EE4A5ADD}" srcOrd="3" destOrd="0" parTransId="{A9ED2A32-8B7D-42B4-9BBF-3CF5370C9CF5}" sibTransId="{47A504B5-7B7C-4EBE-A949-C2D87BE432FD}"/>
    <dgm:cxn modelId="{0D4F4442-4E2A-47E2-8B40-C6271CC09B74}" type="presOf" srcId="{C7692EAD-D4F3-4A95-AC23-BDA4EE4A5ADD}" destId="{7523F0AF-8CC5-4059-B23C-8AC66B39F3E5}" srcOrd="0" destOrd="0" presId="urn:microsoft.com/office/officeart/2005/8/layout/default"/>
    <dgm:cxn modelId="{E90A4663-0E69-49D9-B6BE-1E488D763C5B}" type="presOf" srcId="{54D65DE9-15AE-47AE-8605-8B51DF825509}" destId="{767CC7D5-D2F9-44DB-BC4B-C7EA2B2E25F7}" srcOrd="0" destOrd="0" presId="urn:microsoft.com/office/officeart/2005/8/layout/default"/>
    <dgm:cxn modelId="{E3F0114B-BAD9-426B-96AE-6D1716A68E6D}" type="presOf" srcId="{07C882E8-EEF5-4210-87E3-02E111B103F6}" destId="{8657AEFE-1C4F-40B4-B828-D39C3B360CDB}" srcOrd="0" destOrd="0" presId="urn:microsoft.com/office/officeart/2005/8/layout/default"/>
    <dgm:cxn modelId="{01257B59-238C-47E2-BF00-62F84B6BD448}" srcId="{887ECD14-94D5-4874-8E83-D5806AB3B067}" destId="{07C882E8-EEF5-4210-87E3-02E111B103F6}" srcOrd="2" destOrd="0" parTransId="{B616BAA1-DF14-4943-87C6-F2F6634396C6}" sibTransId="{96291A53-1E56-4E04-8D70-0FA7295337C3}"/>
    <dgm:cxn modelId="{999C14A0-C5C8-40AB-8D2E-92529429D18C}" srcId="{887ECD14-94D5-4874-8E83-D5806AB3B067}" destId="{DB88158F-F8DB-4366-8AA7-AE0E16C63E86}" srcOrd="0" destOrd="0" parTransId="{07861135-C501-42BD-9182-535CB75C6178}" sibTransId="{1354D68C-1703-4747-9DAE-7ECBA8E9EEE1}"/>
    <dgm:cxn modelId="{079A5CC9-1B4F-4D80-84EF-C776F675CC08}" type="presParOf" srcId="{4779D937-9FD2-4D9B-A3EF-847022DC7694}" destId="{DAC9A12F-A208-45A4-B110-0D15B98B1A30}" srcOrd="0" destOrd="0" presId="urn:microsoft.com/office/officeart/2005/8/layout/default"/>
    <dgm:cxn modelId="{F4B660F9-D9DD-4A68-B5D4-E49ABA88C431}" type="presParOf" srcId="{4779D937-9FD2-4D9B-A3EF-847022DC7694}" destId="{71237820-A748-4B07-89CE-AD4C96D68CCC}" srcOrd="1" destOrd="0" presId="urn:microsoft.com/office/officeart/2005/8/layout/default"/>
    <dgm:cxn modelId="{49322B7E-FF61-4296-A260-F0502713D821}" type="presParOf" srcId="{4779D937-9FD2-4D9B-A3EF-847022DC7694}" destId="{767CC7D5-D2F9-44DB-BC4B-C7EA2B2E25F7}" srcOrd="2" destOrd="0" presId="urn:microsoft.com/office/officeart/2005/8/layout/default"/>
    <dgm:cxn modelId="{58E1E164-68A0-40AF-944F-1DE1917AE1D5}" type="presParOf" srcId="{4779D937-9FD2-4D9B-A3EF-847022DC7694}" destId="{2F318699-277B-42C2-8408-FE6577E2B4C1}" srcOrd="3" destOrd="0" presId="urn:microsoft.com/office/officeart/2005/8/layout/default"/>
    <dgm:cxn modelId="{5C118593-DD85-4CBC-8534-7AB61B529D2E}" type="presParOf" srcId="{4779D937-9FD2-4D9B-A3EF-847022DC7694}" destId="{8657AEFE-1C4F-40B4-B828-D39C3B360CDB}" srcOrd="4" destOrd="0" presId="urn:microsoft.com/office/officeart/2005/8/layout/default"/>
    <dgm:cxn modelId="{36A2C013-5D96-4A91-BB49-8C1A06C8B575}" type="presParOf" srcId="{4779D937-9FD2-4D9B-A3EF-847022DC7694}" destId="{6BDCD9AD-D812-4DAE-896F-6638058E6C13}" srcOrd="5" destOrd="0" presId="urn:microsoft.com/office/officeart/2005/8/layout/default"/>
    <dgm:cxn modelId="{0B8168FA-4B66-4272-A115-F04DB6E4DDFD}" type="presParOf" srcId="{4779D937-9FD2-4D9B-A3EF-847022DC7694}" destId="{7523F0AF-8CC5-4059-B23C-8AC66B39F3E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7844B6-8D4A-437F-9E25-E203866FFBBE}">
      <dsp:nvSpPr>
        <dsp:cNvPr id="0" name=""/>
        <dsp:cNvSpPr/>
      </dsp:nvSpPr>
      <dsp:spPr>
        <a:xfrm>
          <a:off x="1227261" y="1081"/>
          <a:ext cx="2413020" cy="144781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800" kern="1200"/>
            <a:t>Mean</a:t>
          </a:r>
          <a:endParaRPr lang="en-US" sz="4800" kern="1200"/>
        </a:p>
      </dsp:txBody>
      <dsp:txXfrm>
        <a:off x="1227261" y="1081"/>
        <a:ext cx="2413020" cy="1447812"/>
      </dsp:txXfrm>
    </dsp:sp>
    <dsp:sp modelId="{A864925A-2DAC-4FDE-BB1A-6A6A08C0EE9C}">
      <dsp:nvSpPr>
        <dsp:cNvPr id="0" name=""/>
        <dsp:cNvSpPr/>
      </dsp:nvSpPr>
      <dsp:spPr>
        <a:xfrm>
          <a:off x="3881584" y="1081"/>
          <a:ext cx="2413020" cy="144781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800" kern="1200"/>
            <a:t>Median</a:t>
          </a:r>
          <a:endParaRPr lang="en-US" sz="4800" kern="1200"/>
        </a:p>
      </dsp:txBody>
      <dsp:txXfrm>
        <a:off x="3881584" y="1081"/>
        <a:ext cx="2413020" cy="1447812"/>
      </dsp:txXfrm>
    </dsp:sp>
    <dsp:sp modelId="{363064D7-A89A-479F-AFD0-8727699B6378}">
      <dsp:nvSpPr>
        <dsp:cNvPr id="0" name=""/>
        <dsp:cNvSpPr/>
      </dsp:nvSpPr>
      <dsp:spPr>
        <a:xfrm>
          <a:off x="2554423" y="1690196"/>
          <a:ext cx="2413020" cy="1447812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800" kern="1200"/>
            <a:t>Mode</a:t>
          </a:r>
          <a:endParaRPr lang="en-US" sz="4800" kern="1200"/>
        </a:p>
      </dsp:txBody>
      <dsp:txXfrm>
        <a:off x="2554423" y="1690196"/>
        <a:ext cx="2413020" cy="14478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29CC9-FDBF-44A8-BC48-131D55F6D0F2}">
      <dsp:nvSpPr>
        <dsp:cNvPr id="0" name=""/>
        <dsp:cNvSpPr/>
      </dsp:nvSpPr>
      <dsp:spPr>
        <a:xfrm>
          <a:off x="0" y="3460"/>
          <a:ext cx="10515600" cy="7371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5A90F-702D-484B-92E3-69AA0C471035}">
      <dsp:nvSpPr>
        <dsp:cNvPr id="0" name=""/>
        <dsp:cNvSpPr/>
      </dsp:nvSpPr>
      <dsp:spPr>
        <a:xfrm>
          <a:off x="222984" y="169317"/>
          <a:ext cx="405426" cy="4054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04B02-D315-48E8-ACF8-E26F210E7087}">
      <dsp:nvSpPr>
        <dsp:cNvPr id="0" name=""/>
        <dsp:cNvSpPr/>
      </dsp:nvSpPr>
      <dsp:spPr>
        <a:xfrm>
          <a:off x="851396" y="3460"/>
          <a:ext cx="9664203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This is usually what is meant when we say “</a:t>
          </a:r>
          <a:r>
            <a:rPr lang="en-US" sz="1900" b="1" kern="1200"/>
            <a:t>average</a:t>
          </a:r>
          <a:r>
            <a:rPr lang="en-US" sz="1900" kern="1200"/>
            <a:t>”</a:t>
          </a:r>
        </a:p>
      </dsp:txBody>
      <dsp:txXfrm>
        <a:off x="851396" y="3460"/>
        <a:ext cx="9664203" cy="737139"/>
      </dsp:txXfrm>
    </dsp:sp>
    <dsp:sp modelId="{EA68C8B1-F9E5-434C-BBCA-0D810D4BD30B}">
      <dsp:nvSpPr>
        <dsp:cNvPr id="0" name=""/>
        <dsp:cNvSpPr/>
      </dsp:nvSpPr>
      <dsp:spPr>
        <a:xfrm>
          <a:off x="0" y="924885"/>
          <a:ext cx="10515600" cy="7371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8F4791-ADE2-49D0-9B58-5909D116CDB1}">
      <dsp:nvSpPr>
        <dsp:cNvPr id="0" name=""/>
        <dsp:cNvSpPr/>
      </dsp:nvSpPr>
      <dsp:spPr>
        <a:xfrm>
          <a:off x="222984" y="1090741"/>
          <a:ext cx="405426" cy="4054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D5C90-61E3-4535-B769-E1E716F87FAF}">
      <dsp:nvSpPr>
        <dsp:cNvPr id="0" name=""/>
        <dsp:cNvSpPr/>
      </dsp:nvSpPr>
      <dsp:spPr>
        <a:xfrm>
          <a:off x="851396" y="924885"/>
          <a:ext cx="4732020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Calculated by taking the </a:t>
          </a:r>
          <a:r>
            <a:rPr lang="en-US" sz="1900" b="1" kern="1200"/>
            <a:t>sum</a:t>
          </a:r>
          <a:r>
            <a:rPr lang="en-US" sz="1900" kern="1200"/>
            <a:t> of all items, and </a:t>
          </a:r>
          <a:r>
            <a:rPr lang="en-US" sz="1900" b="1" kern="1200"/>
            <a:t>dividing</a:t>
          </a:r>
          <a:r>
            <a:rPr lang="en-US" sz="1900" kern="1200"/>
            <a:t> by the number of items</a:t>
          </a:r>
        </a:p>
      </dsp:txBody>
      <dsp:txXfrm>
        <a:off x="851396" y="924885"/>
        <a:ext cx="4732020" cy="737139"/>
      </dsp:txXfrm>
    </dsp:sp>
    <dsp:sp modelId="{CE2B260A-E833-4B78-92D0-2D477B59C427}">
      <dsp:nvSpPr>
        <dsp:cNvPr id="0" name=""/>
        <dsp:cNvSpPr/>
      </dsp:nvSpPr>
      <dsp:spPr>
        <a:xfrm>
          <a:off x="5583416" y="924885"/>
          <a:ext cx="4932183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e.g. if my course marks were 82%, 54%, and 68%, my average would be ( 0.82 + 0.54 + 0.68 ) / 3 = 0.68 = 68%</a:t>
          </a:r>
        </a:p>
      </dsp:txBody>
      <dsp:txXfrm>
        <a:off x="5583416" y="924885"/>
        <a:ext cx="4932183" cy="737139"/>
      </dsp:txXfrm>
    </dsp:sp>
    <dsp:sp modelId="{606AFFFA-42AF-45E2-9D85-E1AADECF2774}">
      <dsp:nvSpPr>
        <dsp:cNvPr id="0" name=""/>
        <dsp:cNvSpPr/>
      </dsp:nvSpPr>
      <dsp:spPr>
        <a:xfrm>
          <a:off x="0" y="1846310"/>
          <a:ext cx="10515600" cy="7371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35B09-7BD2-4E93-A8DD-AE43C0062ABA}">
      <dsp:nvSpPr>
        <dsp:cNvPr id="0" name=""/>
        <dsp:cNvSpPr/>
      </dsp:nvSpPr>
      <dsp:spPr>
        <a:xfrm>
          <a:off x="222984" y="2012166"/>
          <a:ext cx="405426" cy="4054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8CC25-1E68-4C78-A699-485DBA3B5312}">
      <dsp:nvSpPr>
        <dsp:cNvPr id="0" name=""/>
        <dsp:cNvSpPr/>
      </dsp:nvSpPr>
      <dsp:spPr>
        <a:xfrm>
          <a:off x="851396" y="1846310"/>
          <a:ext cx="9664203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Isn’t always meaningful… what is the average roll when we roll a die?</a:t>
          </a:r>
        </a:p>
      </dsp:txBody>
      <dsp:txXfrm>
        <a:off x="851396" y="1846310"/>
        <a:ext cx="9664203" cy="737139"/>
      </dsp:txXfrm>
    </dsp:sp>
    <dsp:sp modelId="{1B7A0F2F-55D9-4B47-A6E6-0FB94C3A2CEF}">
      <dsp:nvSpPr>
        <dsp:cNvPr id="0" name=""/>
        <dsp:cNvSpPr/>
      </dsp:nvSpPr>
      <dsp:spPr>
        <a:xfrm>
          <a:off x="0" y="2767734"/>
          <a:ext cx="10515600" cy="7371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C428F-5410-436E-9614-27CBE0F27E8C}">
      <dsp:nvSpPr>
        <dsp:cNvPr id="0" name=""/>
        <dsp:cNvSpPr/>
      </dsp:nvSpPr>
      <dsp:spPr>
        <a:xfrm>
          <a:off x="222984" y="2933591"/>
          <a:ext cx="405426" cy="4054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A99BB-4E84-40C8-A8F9-092B7D2B9335}">
      <dsp:nvSpPr>
        <dsp:cNvPr id="0" name=""/>
        <dsp:cNvSpPr/>
      </dsp:nvSpPr>
      <dsp:spPr>
        <a:xfrm>
          <a:off x="851396" y="2767734"/>
          <a:ext cx="9664203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Easily impacted by </a:t>
          </a:r>
          <a:r>
            <a:rPr lang="en-US" sz="1900" b="1" kern="1200"/>
            <a:t>extreme values</a:t>
          </a:r>
          <a:r>
            <a:rPr lang="en-US" sz="1900" kern="1200"/>
            <a:t>.</a:t>
          </a:r>
        </a:p>
      </dsp:txBody>
      <dsp:txXfrm>
        <a:off x="851396" y="2767734"/>
        <a:ext cx="9664203" cy="737139"/>
      </dsp:txXfrm>
    </dsp:sp>
    <dsp:sp modelId="{ED865A3C-BCF9-4631-B103-10BCF1203B9E}">
      <dsp:nvSpPr>
        <dsp:cNvPr id="0" name=""/>
        <dsp:cNvSpPr/>
      </dsp:nvSpPr>
      <dsp:spPr>
        <a:xfrm>
          <a:off x="0" y="3689159"/>
          <a:ext cx="10515600" cy="7371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C99FF-6497-4462-A236-1CC88C04442C}">
      <dsp:nvSpPr>
        <dsp:cNvPr id="0" name=""/>
        <dsp:cNvSpPr/>
      </dsp:nvSpPr>
      <dsp:spPr>
        <a:xfrm>
          <a:off x="222984" y="3855015"/>
          <a:ext cx="405426" cy="4054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4CBB1-82AB-4A04-BEE1-460C6C823155}">
      <dsp:nvSpPr>
        <dsp:cNvPr id="0" name=""/>
        <dsp:cNvSpPr/>
      </dsp:nvSpPr>
      <dsp:spPr>
        <a:xfrm>
          <a:off x="851396" y="3689159"/>
          <a:ext cx="9664203" cy="737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14" tIns="78014" rIns="78014" bIns="7801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When might we need to know the mean?</a:t>
          </a:r>
        </a:p>
      </dsp:txBody>
      <dsp:txXfrm>
        <a:off x="851396" y="3689159"/>
        <a:ext cx="9664203" cy="7371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C9A12F-A208-45A4-B110-0D15B98B1A30}">
      <dsp:nvSpPr>
        <dsp:cNvPr id="0" name=""/>
        <dsp:cNvSpPr/>
      </dsp:nvSpPr>
      <dsp:spPr>
        <a:xfrm>
          <a:off x="1683368" y="2136"/>
          <a:ext cx="3404220" cy="204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Most simply: median is the </a:t>
          </a:r>
          <a:r>
            <a:rPr lang="en-US" sz="2700" b="1" i="0" kern="1200"/>
            <a:t>middle</a:t>
          </a:r>
          <a:r>
            <a:rPr lang="en-US" sz="2700" b="0" i="0" kern="1200"/>
            <a:t> number.</a:t>
          </a:r>
          <a:endParaRPr lang="en-US" sz="2700" kern="1200"/>
        </a:p>
      </dsp:txBody>
      <dsp:txXfrm>
        <a:off x="1683368" y="2136"/>
        <a:ext cx="3404220" cy="2042532"/>
      </dsp:txXfrm>
    </dsp:sp>
    <dsp:sp modelId="{767CC7D5-D2F9-44DB-BC4B-C7EA2B2E25F7}">
      <dsp:nvSpPr>
        <dsp:cNvPr id="0" name=""/>
        <dsp:cNvSpPr/>
      </dsp:nvSpPr>
      <dsp:spPr>
        <a:xfrm>
          <a:off x="5428011" y="2136"/>
          <a:ext cx="3404220" cy="204253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Helps us understand what the middle of the distribution looks like.</a:t>
          </a:r>
          <a:endParaRPr lang="en-US" sz="2700" kern="1200"/>
        </a:p>
      </dsp:txBody>
      <dsp:txXfrm>
        <a:off x="5428011" y="2136"/>
        <a:ext cx="3404220" cy="2042532"/>
      </dsp:txXfrm>
    </dsp:sp>
    <dsp:sp modelId="{8657AEFE-1C4F-40B4-B828-D39C3B360CDB}">
      <dsp:nvSpPr>
        <dsp:cNvPr id="0" name=""/>
        <dsp:cNvSpPr/>
      </dsp:nvSpPr>
      <dsp:spPr>
        <a:xfrm>
          <a:off x="1683368" y="2385091"/>
          <a:ext cx="3404220" cy="2042532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The mode is the most </a:t>
          </a:r>
          <a:r>
            <a:rPr lang="en-US" sz="2700" b="1" i="0" kern="1200"/>
            <a:t>common</a:t>
          </a:r>
          <a:r>
            <a:rPr lang="en-US" sz="2700" b="0" i="0" kern="1200"/>
            <a:t> number.</a:t>
          </a:r>
          <a:endParaRPr lang="en-US" sz="2700" kern="1200"/>
        </a:p>
      </dsp:txBody>
      <dsp:txXfrm>
        <a:off x="1683368" y="2385091"/>
        <a:ext cx="3404220" cy="2042532"/>
      </dsp:txXfrm>
    </dsp:sp>
    <dsp:sp modelId="{7523F0AF-8CC5-4059-B23C-8AC66B39F3E5}">
      <dsp:nvSpPr>
        <dsp:cNvPr id="0" name=""/>
        <dsp:cNvSpPr/>
      </dsp:nvSpPr>
      <dsp:spPr>
        <a:xfrm>
          <a:off x="5428011" y="2385091"/>
          <a:ext cx="3404220" cy="2042532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Sometimes the distribution has multiple modes (e.g. bimodal).</a:t>
          </a:r>
          <a:endParaRPr lang="en-US" sz="2700" kern="1200"/>
        </a:p>
      </dsp:txBody>
      <dsp:txXfrm>
        <a:off x="5428011" y="2385091"/>
        <a:ext cx="3404220" cy="2042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13498-6147-4451-92BD-2BE2E0E9049E}" type="datetimeFigureOut">
              <a:rPr lang="en-CA" smtClean="0"/>
              <a:t>2026-09-10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B34FE-5153-49AE-AB12-1AE2C7E64A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141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i.e. describing the </a:t>
            </a:r>
            <a:r>
              <a:rPr lang="en-US" dirty="0" err="1"/>
              <a:t>centre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539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Calendar = ratio</a:t>
            </a:r>
          </a:p>
          <a:p>
            <a:endParaRPr lang="en-CA" dirty="0"/>
          </a:p>
          <a:p>
            <a:r>
              <a:rPr lang="en-CA" dirty="0"/>
              <a:t>Time of day </a:t>
            </a:r>
          </a:p>
          <a:p>
            <a:r>
              <a:rPr lang="en-CA" dirty="0"/>
              <a:t>"The movie started at 7:00 PM" → interval </a:t>
            </a:r>
          </a:p>
          <a:p>
            <a:r>
              <a:rPr lang="en-CA" dirty="0"/>
              <a:t>"The movie lasted 2 hours" → ratio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497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(count)</a:t>
            </a:r>
          </a:p>
          <a:p>
            <a:r>
              <a:rPr lang="en-US" dirty="0"/>
              <a:t>5 (most common)</a:t>
            </a:r>
          </a:p>
          <a:p>
            <a:r>
              <a:rPr lang="en-US" dirty="0"/>
              <a:t>10 (largest)</a:t>
            </a:r>
          </a:p>
          <a:p>
            <a:r>
              <a:rPr lang="en-US" dirty="0"/>
              <a:t>And so on….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1178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real-world examples and examples of how to calculate</a:t>
            </a:r>
          </a:p>
          <a:p>
            <a:r>
              <a:rPr lang="en-US" dirty="0"/>
              <a:t>e.g. Excel notebook, calculator</a:t>
            </a:r>
          </a:p>
          <a:p>
            <a:endParaRPr lang="en-CA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0051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weighted mean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6982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025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EA6E-7267-BB96-2F06-2E95B807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9B1482-32E9-77EF-5C78-635D7E595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80946-C4E5-DDC8-BFF7-564AA665C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67086-3E81-F9CF-732B-774C84D59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3264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Remember: depends on the question, the type of data, and the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B34FE-5153-49AE-AB12-1AE2C7E64AE7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3068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2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2" y="4376058"/>
            <a:ext cx="10606097" cy="113483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66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2" indent="0" algn="ctr">
              <a:buNone/>
              <a:defRPr sz="1600"/>
            </a:lvl5pPr>
            <a:lvl6pPr marL="2285828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3686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30" y="679939"/>
            <a:ext cx="1847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00397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3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141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2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57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43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28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566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vox bas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2F2E-3F20-0DC0-CFA3-D11D49B01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D3D74-F972-E096-E828-44B6C11A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A18-8950-3A86-D6FB-14BF0F08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9F6BC-1B26-1DC3-0C4B-4C12F07C7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ADAFE8-3608-FDE7-C3ED-12BD6811F7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798320"/>
            <a:ext cx="10515600" cy="4429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9565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46CE7D5-CF57-46EF-B807-FDD0502418D4}" type="datetimeFigureOut">
              <a:rPr lang="en-GB" smtClean="0"/>
              <a:t>10/09/2026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71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2" indent="-228582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4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14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80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46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1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2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8" indent="-228582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D1E06-127A-E6F3-7186-40B633E29F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SDEV2501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BEF5F-7E93-2148-4677-39D90A7E4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Day 03 - Summary Statistics</a:t>
            </a:r>
          </a:p>
        </p:txBody>
      </p:sp>
    </p:spTree>
    <p:extLst>
      <p:ext uri="{BB962C8B-B14F-4D97-AF65-F5344CB8AC3E}">
        <p14:creationId xmlns:p14="http://schemas.microsoft.com/office/powerpoint/2010/main" val="346764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26F7-7A6B-DDB6-B5FF-E4291577D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Today’s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CD4E-4943-2564-C297-74BE69BC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Define, discuss, and calculate measures of central tendency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692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3F57D-4E12-9CA5-26A1-AFF73D5D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C5B37B-4ADD-C689-43E1-6975E805C7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34414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7273-7B53-6994-3F82-94E4A84B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1CD7E-C2BF-8D49-E20D-A9DD723C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26B47-1D70-5DF8-92CC-60918EF5E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phases of the data science lifecycle?</a:t>
            </a:r>
          </a:p>
          <a:p>
            <a:r>
              <a:rPr lang="en-US" dirty="0"/>
              <a:t>What are the different data types?</a:t>
            </a:r>
          </a:p>
          <a:p>
            <a:r>
              <a:rPr lang="en-US" dirty="0"/>
              <a:t>When would we use a population? A sample?</a:t>
            </a:r>
          </a:p>
          <a:p>
            <a:r>
              <a:rPr lang="en-US" dirty="0"/>
              <a:t>What is a statistic? How does it differ from a parameter?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623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FEAD-5FCE-A1C1-234C-F02285B3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Interval vs ratio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99BF-E998-9890-ACC9-2C6BB993C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Calendar year</a:t>
            </a:r>
          </a:p>
          <a:p>
            <a:pPr lvl="1"/>
            <a:r>
              <a:rPr lang="en-CA" dirty="0"/>
              <a:t>Is the difference between 1999-2000 the same as 2019-2020?</a:t>
            </a:r>
          </a:p>
          <a:p>
            <a:pPr lvl="1"/>
            <a:r>
              <a:rPr lang="en-CA" dirty="0"/>
              <a:t>Can we subtract 1993 from today?</a:t>
            </a:r>
          </a:p>
          <a:p>
            <a:pPr lvl="1"/>
            <a:r>
              <a:rPr lang="en-CA" dirty="0"/>
              <a:t>Is the year 2000 “twice as big” as the year 1000?</a:t>
            </a:r>
          </a:p>
          <a:p>
            <a:pPr lvl="1"/>
            <a:r>
              <a:rPr lang="en-CA" dirty="0"/>
              <a:t>Does the year 0 mean “no time”?</a:t>
            </a:r>
          </a:p>
          <a:p>
            <a:r>
              <a:rPr lang="en-CA" dirty="0"/>
              <a:t>Time of day</a:t>
            </a:r>
          </a:p>
          <a:p>
            <a:pPr lvl="1"/>
            <a:r>
              <a:rPr lang="en-CA" dirty="0"/>
              <a:t>Meaningful and equal difference between 2pm and 3pm?</a:t>
            </a:r>
          </a:p>
        </p:txBody>
      </p:sp>
    </p:spTree>
    <p:extLst>
      <p:ext uri="{BB962C8B-B14F-4D97-AF65-F5344CB8AC3E}">
        <p14:creationId xmlns:p14="http://schemas.microsoft.com/office/powerpoint/2010/main" val="755759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B9D7AF-0687-6135-23C2-B6B9A11FB8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Summary statistics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24296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4473-80FD-DB29-937F-B78A67AC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summary stats?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C582-1343-A974-860B-D291EA60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Condense a large dataset</a:t>
            </a:r>
          </a:p>
          <a:p>
            <a:r>
              <a:rPr lang="en-CA" dirty="0"/>
              <a:t>Easily compare groups</a:t>
            </a:r>
          </a:p>
          <a:p>
            <a:r>
              <a:rPr lang="en-CA" dirty="0"/>
              <a:t>Communicate data to other humans</a:t>
            </a:r>
          </a:p>
          <a:p>
            <a:r>
              <a:rPr lang="en-CA" dirty="0"/>
              <a:t>Establish a baseline</a:t>
            </a:r>
          </a:p>
          <a:p>
            <a:r>
              <a:rPr lang="en-CA" dirty="0"/>
              <a:t>Support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52025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CC45C-60C6-1A5A-DC7D-89852017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single value could describe these #s?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8BEC-1265-C158-DBCD-10F47FBC8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  <a:p>
            <a:r>
              <a:rPr lang="en-US" dirty="0"/>
              <a:t>10</a:t>
            </a:r>
          </a:p>
          <a:p>
            <a:r>
              <a:rPr lang="en-US" dirty="0"/>
              <a:t>5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4</a:t>
            </a:r>
          </a:p>
          <a:p>
            <a:r>
              <a:rPr lang="en-US" dirty="0"/>
              <a:t>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40752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27BF-1490-49BB-A6BF-587578BB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CA"/>
              <a:t>Some terms to know…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B4A4D9CF-4968-4AE7-8A81-B8D1D85EA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923233"/>
              </p:ext>
            </p:extLst>
          </p:nvPr>
        </p:nvGraphicFramePr>
        <p:xfrm>
          <a:off x="2335067" y="2200115"/>
          <a:ext cx="7521867" cy="3139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52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20B7D-EFBF-9672-627C-9508744F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A"/>
              <a:t>Mean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810A02-CE0F-A840-E657-767A38C189EC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1798320"/>
          <a:ext cx="10515600" cy="442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65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6440-28FA-58AB-7281-A52A04F8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A"/>
              <a:t>Median vs mode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AD74A4-C781-CDA8-AAE7-5377D91DA0C1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1798320"/>
          <a:ext cx="10515600" cy="442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784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F818B-6BF1-69B1-2CCD-2D4AB40B4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137" y="1385887"/>
            <a:ext cx="3351396" cy="18390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C76CB8-A05A-FC19-0CE7-87E480923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 does each statistic answer?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FD136-6B6B-80A5-B470-CE4B3CE67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7222067" cy="36869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b="1" dirty="0"/>
              <a:t>Mean</a:t>
            </a:r>
          </a:p>
          <a:p>
            <a:r>
              <a:rPr lang="en-CA" dirty="0"/>
              <a:t>If we distributed all the values equally, what would we each get?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b="1" dirty="0"/>
              <a:t>Median</a:t>
            </a:r>
          </a:p>
          <a:p>
            <a:r>
              <a:rPr lang="en-CA" dirty="0"/>
              <a:t>What’s the middle?</a:t>
            </a:r>
          </a:p>
          <a:p>
            <a:r>
              <a:rPr lang="en-CA" dirty="0"/>
              <a:t>What number describes a typical observation?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b="1" dirty="0"/>
              <a:t>Mode</a:t>
            </a:r>
          </a:p>
          <a:p>
            <a:r>
              <a:rPr lang="en-CA" dirty="0"/>
              <a:t>Which value occurs most frequently?</a:t>
            </a:r>
          </a:p>
          <a:p>
            <a:r>
              <a:rPr lang="en-CA" dirty="0"/>
              <a:t>Works for categorical data.</a:t>
            </a:r>
          </a:p>
        </p:txBody>
      </p:sp>
    </p:spTree>
    <p:extLst>
      <p:ext uri="{BB962C8B-B14F-4D97-AF65-F5344CB8AC3E}">
        <p14:creationId xmlns:p14="http://schemas.microsoft.com/office/powerpoint/2010/main" val="177771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4028C-B6F8-4A6E-DBA2-8FB1EAF6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 summary stats mislead?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9932-B8DB-F973-6472-B85DF1152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6507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What is the average salary of these 5 people?</a:t>
            </a:r>
          </a:p>
          <a:p>
            <a:pPr lvl="1"/>
            <a:r>
              <a:rPr lang="nn-NO" dirty="0"/>
              <a:t>$40k</a:t>
            </a:r>
          </a:p>
          <a:p>
            <a:pPr lvl="1"/>
            <a:r>
              <a:rPr lang="nn-NO" dirty="0"/>
              <a:t>$45k</a:t>
            </a:r>
          </a:p>
          <a:p>
            <a:pPr lvl="1"/>
            <a:r>
              <a:rPr lang="nn-NO" dirty="0"/>
              <a:t>$50k</a:t>
            </a:r>
          </a:p>
          <a:p>
            <a:pPr lvl="1"/>
            <a:r>
              <a:rPr lang="nn-NO" dirty="0"/>
              <a:t>$55k</a:t>
            </a:r>
          </a:p>
          <a:p>
            <a:pPr lvl="1"/>
            <a:r>
              <a:rPr lang="nn-NO" dirty="0"/>
              <a:t>$1,000,000</a:t>
            </a:r>
          </a:p>
          <a:p>
            <a:r>
              <a:rPr lang="nn-NO" dirty="0"/>
              <a:t>What’s the average number when I roll a regular 6-sided die?</a:t>
            </a:r>
          </a:p>
          <a:p>
            <a:endParaRPr lang="nn-NO" dirty="0"/>
          </a:p>
          <a:p>
            <a:pPr marL="0" indent="0">
              <a:buNone/>
            </a:pPr>
            <a:r>
              <a:rPr lang="nn-NO" dirty="0"/>
              <a:t>Takeaway:</a:t>
            </a:r>
          </a:p>
          <a:p>
            <a:pPr marL="0" indent="0">
              <a:buNone/>
            </a:pPr>
            <a:r>
              <a:rPr lang="nn-NO" dirty="0"/>
              <a:t>Means are sensitive to extreme values, and summary statistics don’t necessarily represent a real-life observation.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74350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68DD-86BA-97AA-F993-90E956C0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D159-CD8D-07DB-DC7B-06AA2567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can summary stats mislead?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7D8C-CEA3-7C66-A989-B63F262A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36507"/>
          </a:xfrm>
        </p:spPr>
        <p:txBody>
          <a:bodyPr>
            <a:normAutofit/>
          </a:bodyPr>
          <a:lstStyle/>
          <a:p>
            <a:r>
              <a:rPr lang="en-CA" dirty="0"/>
              <a:t>Let’s compare the hourly wages of 10 employees:</a:t>
            </a:r>
          </a:p>
          <a:p>
            <a:pPr lvl="1"/>
            <a:r>
              <a:rPr lang="en-CA" dirty="0"/>
              <a:t>$15, $16, $17, $17, $18, $120, $125, $130, $135, $140</a:t>
            </a:r>
          </a:p>
          <a:p>
            <a:pPr lvl="1"/>
            <a:r>
              <a:rPr lang="en-CA" dirty="0"/>
              <a:t>What are the mean and median? What does this tell us?</a:t>
            </a:r>
          </a:p>
          <a:p>
            <a:pPr lvl="1"/>
            <a:endParaRPr lang="en-CA" dirty="0"/>
          </a:p>
          <a:p>
            <a:r>
              <a:rPr lang="en-CA" dirty="0"/>
              <a:t>Here is the duration of 15 randomly selected Uber trips:</a:t>
            </a:r>
          </a:p>
          <a:p>
            <a:pPr lvl="1"/>
            <a:r>
              <a:rPr lang="en-CA" dirty="0"/>
              <a:t>8, 12, 12, 15, 16, 17, 18, 20, 21, 22, 23, 24, 25, 25, 47</a:t>
            </a:r>
          </a:p>
          <a:p>
            <a:pPr lvl="1"/>
            <a:r>
              <a:rPr lang="en-CA" dirty="0"/>
              <a:t>What is the mean, median, and mode? What does this tell us?</a:t>
            </a:r>
          </a:p>
        </p:txBody>
      </p:sp>
    </p:spTree>
    <p:extLst>
      <p:ext uri="{BB962C8B-B14F-4D97-AF65-F5344CB8AC3E}">
        <p14:creationId xmlns:p14="http://schemas.microsoft.com/office/powerpoint/2010/main" val="28310029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4473-80FD-DB29-937F-B78A67ACC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&amp; Visualize Summary Stats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CC582-1343-A974-860B-D291EA601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a dataset, calculate summary metrics</a:t>
            </a:r>
          </a:p>
          <a:p>
            <a:r>
              <a:rPr lang="en-US" dirty="0"/>
              <a:t>What types of questions can be answered?</a:t>
            </a:r>
          </a:p>
          <a:p>
            <a:r>
              <a:rPr lang="en-US" dirty="0"/>
              <a:t>What types of questions cannot be answered?</a:t>
            </a:r>
          </a:p>
          <a:p>
            <a:pPr lvl="1"/>
            <a:r>
              <a:rPr lang="en-US" dirty="0"/>
              <a:t>Smallest &amp; largest numbers</a:t>
            </a:r>
          </a:p>
          <a:p>
            <a:pPr lvl="1"/>
            <a:r>
              <a:rPr lang="en-US" dirty="0"/>
              <a:t>How much the numbers vary</a:t>
            </a:r>
          </a:p>
          <a:p>
            <a:pPr lvl="1"/>
            <a:r>
              <a:rPr lang="en-US" dirty="0"/>
              <a:t>Whether there are outliers</a:t>
            </a:r>
          </a:p>
          <a:p>
            <a:pPr lvl="1"/>
            <a:r>
              <a:rPr lang="en-US" dirty="0"/>
              <a:t>How the values are distributed e.g. clustered, spread out…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6386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56CC-1F2B-4184-DE4D-4F387451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FC17E-0F4C-8B1C-F026-899FF1BB0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Which measure should I use for?</a:t>
            </a:r>
          </a:p>
          <a:p>
            <a:pPr lvl="1"/>
            <a:r>
              <a:rPr lang="en-CA" dirty="0"/>
              <a:t>Deciding which sizes to stock in my store?</a:t>
            </a:r>
          </a:p>
          <a:p>
            <a:pPr lvl="1"/>
            <a:r>
              <a:rPr lang="en-CA" dirty="0"/>
              <a:t>Summarizing academic performance?</a:t>
            </a:r>
          </a:p>
          <a:p>
            <a:pPr lvl="1"/>
            <a:r>
              <a:rPr lang="en-CA" dirty="0"/>
              <a:t>Checking the star rating of my restaurant?</a:t>
            </a:r>
          </a:p>
          <a:p>
            <a:pPr lvl="1"/>
            <a:r>
              <a:rPr lang="en-CA" dirty="0"/>
              <a:t>Reporting the typical house price in my city?</a:t>
            </a:r>
          </a:p>
          <a:p>
            <a:pPr lvl="1"/>
            <a:r>
              <a:rPr lang="en-CA" dirty="0"/>
              <a:t>The typical # of hours people exercise in a week?</a:t>
            </a:r>
          </a:p>
        </p:txBody>
      </p:sp>
    </p:spTree>
    <p:extLst>
      <p:ext uri="{BB962C8B-B14F-4D97-AF65-F5344CB8AC3E}">
        <p14:creationId xmlns:p14="http://schemas.microsoft.com/office/powerpoint/2010/main" val="2060427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A9F5-5E4F-5886-AAAE-11D4A1CCC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190D4-4AA7-58D3-7298-DBDDD2E80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Reflect: Why might the median be more meaningful than the mean when analyzing financial income data?</a:t>
            </a:r>
            <a:endParaRPr lang="en-CA" dirty="0"/>
          </a:p>
        </p:txBody>
      </p:sp>
      <p:pic>
        <p:nvPicPr>
          <p:cNvPr id="5" name="Picture 2" descr="When it comes to data analysis, I Excel! #MemeMonday Let's all have an  EXCELlent week! ;)">
            <a:extLst>
              <a:ext uri="{FF2B5EF4-FFF2-40B4-BE49-F238E27FC236}">
                <a16:creationId xmlns:a16="http://schemas.microsoft.com/office/drawing/2014/main" id="{5CA32A67-8E40-ECC3-B00B-94EAB9E8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354" y="2727651"/>
            <a:ext cx="3261291" cy="313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81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33C7-294D-801F-4BC4-2D48354A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0CC8-DF28-78BC-A87E-B748833C5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Describing the shape and spread of data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12754272"/>
      </p:ext>
    </p:extLst>
  </p:cSld>
  <p:clrMapOvr>
    <a:masterClrMapping/>
  </p:clrMapOvr>
</p:sld>
</file>

<file path=ppt/theme/theme1.xml><?xml version="1.0" encoding="utf-8"?>
<a:theme xmlns:a="http://schemas.openxmlformats.org/drawingml/2006/main" name="NAIT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" id="{DF651FC3-C7F7-494F-8E7B-068392C93DF2}" vid="{A0C0D8A3-3686-48EC-A2E6-86B0D9C321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175f85-aaa6-450f-8e62-bb2d8657c111" xsi:nil="true"/>
    <lcf76f155ced4ddcb4097134ff3c332f xmlns="c0636a0e-6a5d-4f3a-8cec-2ed9d7e96064">
      <Terms xmlns="http://schemas.microsoft.com/office/infopath/2007/PartnerControls"/>
    </lcf76f155ced4ddcb4097134ff3c332f>
    <DocumentType xmlns="c0636a0e-6a5d-4f3a-8cec-2ed9d7e9606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04d7dfe6c5c585be91c8ee3187e43294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27f7757fcb8cf5250918f83dc09c3597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3208F0-7946-425A-96AC-4E9E6268BA7C}">
  <ds:schemaRefs>
    <ds:schemaRef ds:uri="http://schemas.microsoft.com/office/2006/metadata/properties"/>
    <ds:schemaRef ds:uri="http://schemas.microsoft.com/office/infopath/2007/PartnerControls"/>
    <ds:schemaRef ds:uri="28175f85-aaa6-450f-8e62-bb2d8657c111"/>
    <ds:schemaRef ds:uri="c0636a0e-6a5d-4f3a-8cec-2ed9d7e96064"/>
  </ds:schemaRefs>
</ds:datastoreItem>
</file>

<file path=customXml/itemProps2.xml><?xml version="1.0" encoding="utf-8"?>
<ds:datastoreItem xmlns:ds="http://schemas.openxmlformats.org/officeDocument/2006/customXml" ds:itemID="{356BCF9B-2C70-4E4E-873F-B1A2B617AE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A7136D-E7C9-493A-AF7E-74FCD4F3C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</Template>
  <TotalTime>51</TotalTime>
  <Words>746</Words>
  <Application>Microsoft Office PowerPoint</Application>
  <PresentationFormat>Widescreen</PresentationFormat>
  <Paragraphs>119</Paragraphs>
  <Slides>18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NAIT</vt:lpstr>
      <vt:lpstr>SDEV2501</vt:lpstr>
      <vt:lpstr>Today’s objective</vt:lpstr>
      <vt:lpstr>Review</vt:lpstr>
      <vt:lpstr>Review</vt:lpstr>
      <vt:lpstr>Interval vs ratio example</vt:lpstr>
      <vt:lpstr>Summary statistics</vt:lpstr>
      <vt:lpstr>Why do we need summary stats?</vt:lpstr>
      <vt:lpstr>What single value could describe these #s?</vt:lpstr>
      <vt:lpstr>Some terms to know…</vt:lpstr>
      <vt:lpstr>Mean</vt:lpstr>
      <vt:lpstr>Median vs mode</vt:lpstr>
      <vt:lpstr>What question does each statistic answer?</vt:lpstr>
      <vt:lpstr>When can summary stats mislead?</vt:lpstr>
      <vt:lpstr>When can summary stats mislead?</vt:lpstr>
      <vt:lpstr>Calculate &amp; Visualize Summary Stats</vt:lpstr>
      <vt:lpstr>Practice</vt:lpstr>
      <vt:lpstr>Closing</vt:lpstr>
      <vt:lpstr>What’s next?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Dana Marsh</cp:lastModifiedBy>
  <cp:revision>3</cp:revision>
  <dcterms:created xsi:type="dcterms:W3CDTF">2026-08-25T04:32:04Z</dcterms:created>
  <dcterms:modified xsi:type="dcterms:W3CDTF">2026-09-11T00:24:13Z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0x0101007BB085E912FEB648B2192060B32B0D81</vt:lpwstr>
  </property>
  <property fmtid="{D5CDD505-2E9C-101B-9397-08002B2CF9AE}" pid="3" name="MSIP_Label_10877899-02b0-462c-b2a9-b7d15c4f96fe_Enabled">
    <vt:lpwstr>true</vt:lpwstr>
  </property>
  <property fmtid="{D5CDD505-2E9C-101B-9397-08002B2CF9AE}" pid="4" name="MSIP_Label_10877899-02b0-462c-b2a9-b7d15c4f96fe_SetDate">
    <vt:lpwstr>2026-08-25T04:35:23Z</vt:lpwstr>
  </property>
  <property fmtid="{D5CDD505-2E9C-101B-9397-08002B2CF9AE}" pid="5" name="MSIP_Label_10877899-02b0-462c-b2a9-b7d15c4f96fe_Method">
    <vt:lpwstr>Standard</vt:lpwstr>
  </property>
  <property fmtid="{D5CDD505-2E9C-101B-9397-08002B2CF9AE}" pid="6" name="MSIP_Label_10877899-02b0-462c-b2a9-b7d15c4f96fe_Name">
    <vt:lpwstr>Protected [Protected A]</vt:lpwstr>
  </property>
  <property fmtid="{D5CDD505-2E9C-101B-9397-08002B2CF9AE}" pid="7" name="MSIP_Label_10877899-02b0-462c-b2a9-b7d15c4f96fe_SiteId">
    <vt:lpwstr>5c98fb47-d3b9-4649-9d94-f88cbdd9729c</vt:lpwstr>
  </property>
  <property fmtid="{D5CDD505-2E9C-101B-9397-08002B2CF9AE}" pid="8" name="MSIP_Label_10877899-02b0-462c-b2a9-b7d15c4f96fe_ActionId">
    <vt:lpwstr>bc4c1ab8-a61b-4a49-a6f0-372db70639e1</vt:lpwstr>
  </property>
  <property fmtid="{D5CDD505-2E9C-101B-9397-08002B2CF9AE}" pid="9" name="MSIP_Label_10877899-02b0-462c-b2a9-b7d15c4f96fe_ContentBits">
    <vt:lpwstr>0</vt:lpwstr>
  </property>
  <property fmtid="{D5CDD505-2E9C-101B-9397-08002B2CF9AE}" pid="10" name="MSIP_Label_10877899-02b0-462c-b2a9-b7d15c4f96fe_Tag">
    <vt:lpwstr>10, 3, 0, 2</vt:lpwstr>
  </property>
  <property fmtid="{D5CDD505-2E9C-101B-9397-08002B2CF9AE}" pid="11" name="MediaServiceImageTags">
    <vt:lpwstr/>
  </property>
</Properties>
</file>