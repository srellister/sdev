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36"/>
  </p:notesMasterIdLst>
  <p:sldIdLst>
    <p:sldId id="256" r:id="rId5"/>
    <p:sldId id="257" r:id="rId6"/>
    <p:sldId id="258" r:id="rId7"/>
    <p:sldId id="264" r:id="rId8"/>
    <p:sldId id="555" r:id="rId9"/>
    <p:sldId id="575" r:id="rId10"/>
    <p:sldId id="265" r:id="rId11"/>
    <p:sldId id="259" r:id="rId12"/>
    <p:sldId id="563" r:id="rId13"/>
    <p:sldId id="562" r:id="rId14"/>
    <p:sldId id="578" r:id="rId15"/>
    <p:sldId id="580" r:id="rId16"/>
    <p:sldId id="581" r:id="rId17"/>
    <p:sldId id="582" r:id="rId18"/>
    <p:sldId id="583" r:id="rId19"/>
    <p:sldId id="576" r:id="rId20"/>
    <p:sldId id="577" r:id="rId21"/>
    <p:sldId id="579" r:id="rId22"/>
    <p:sldId id="584" r:id="rId23"/>
    <p:sldId id="564" r:id="rId24"/>
    <p:sldId id="585" r:id="rId25"/>
    <p:sldId id="560" r:id="rId26"/>
    <p:sldId id="565" r:id="rId27"/>
    <p:sldId id="567" r:id="rId28"/>
    <p:sldId id="267" r:id="rId29"/>
    <p:sldId id="262" r:id="rId30"/>
    <p:sldId id="574" r:id="rId31"/>
    <p:sldId id="587" r:id="rId32"/>
    <p:sldId id="586" r:id="rId33"/>
    <p:sldId id="263" r:id="rId34"/>
    <p:sldId id="26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DCA4B56-5303-4410-8BB0-FDFA8AB8DA6F}">
          <p14:sldIdLst>
            <p14:sldId id="256"/>
            <p14:sldId id="257"/>
            <p14:sldId id="258"/>
          </p14:sldIdLst>
        </p14:section>
        <p14:section name="Review" id="{B9E32992-6297-4F9A-9645-4D543D0AA720}">
          <p14:sldIdLst>
            <p14:sldId id="264"/>
            <p14:sldId id="555"/>
            <p14:sldId id="575"/>
            <p14:sldId id="265"/>
          </p14:sldIdLst>
        </p14:section>
        <p14:section name="Content" id="{1EED6081-A53A-4D3A-883C-481B386F2A58}">
          <p14:sldIdLst>
            <p14:sldId id="259"/>
            <p14:sldId id="563"/>
            <p14:sldId id="562"/>
            <p14:sldId id="578"/>
            <p14:sldId id="580"/>
            <p14:sldId id="581"/>
            <p14:sldId id="582"/>
            <p14:sldId id="583"/>
            <p14:sldId id="576"/>
            <p14:sldId id="577"/>
            <p14:sldId id="579"/>
            <p14:sldId id="584"/>
            <p14:sldId id="564"/>
            <p14:sldId id="585"/>
            <p14:sldId id="560"/>
            <p14:sldId id="565"/>
            <p14:sldId id="567"/>
            <p14:sldId id="267"/>
            <p14:sldId id="262"/>
            <p14:sldId id="574"/>
            <p14:sldId id="587"/>
            <p14:sldId id="586"/>
          </p14:sldIdLst>
        </p14:section>
        <p14:section name="Closing" id="{3F56586C-781D-4B96-9173-00178C1DEB0A}">
          <p14:sldIdLst>
            <p14:sldId id="263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EB8887-5E54-A501-49F9-301BC62BEB7C}" v="2" dt="2026-09-04T21:53:56.370"/>
    <p1510:client id="{AF3A1F89-C0AC-4362-BE89-79ABF151EEC2}" v="24" dt="2026-09-05T02:31:07.4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81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79B0A2-2479-4B50-865E-7B4564104506}" type="doc">
      <dgm:prSet loTypeId="urn:microsoft.com/office/officeart/2005/8/layout/cycle3" loCatId="cycle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CA"/>
        </a:p>
      </dgm:t>
    </dgm:pt>
    <dgm:pt modelId="{343A419F-AC8B-4C14-B9E4-83231F19E30F}">
      <dgm:prSet phldrT="[Text]" phldr="0"/>
      <dgm:spPr/>
      <dgm:t>
        <a:bodyPr/>
        <a:lstStyle/>
        <a:p>
          <a:r>
            <a:rPr lang="en-CA"/>
            <a:t>Define the question</a:t>
          </a:r>
        </a:p>
      </dgm:t>
    </dgm:pt>
    <dgm:pt modelId="{40FD7272-88B7-4504-A91A-6B7AB42382E2}" type="parTrans" cxnId="{73D0791D-7612-4F65-99D3-B62055FB2A1D}">
      <dgm:prSet/>
      <dgm:spPr/>
      <dgm:t>
        <a:bodyPr/>
        <a:lstStyle/>
        <a:p>
          <a:endParaRPr lang="en-CA"/>
        </a:p>
      </dgm:t>
    </dgm:pt>
    <dgm:pt modelId="{40A99EE0-FF41-4A30-8EDC-ADF55E80D8CE}" type="sibTrans" cxnId="{73D0791D-7612-4F65-99D3-B62055FB2A1D}">
      <dgm:prSet/>
      <dgm:spPr/>
      <dgm:t>
        <a:bodyPr/>
        <a:lstStyle/>
        <a:p>
          <a:endParaRPr lang="en-CA"/>
        </a:p>
      </dgm:t>
    </dgm:pt>
    <dgm:pt modelId="{CBBD8FA3-BF9B-44FE-9C74-FFA6AF6E69D6}">
      <dgm:prSet phldrT="[Text]" phldr="0"/>
      <dgm:spPr/>
      <dgm:t>
        <a:bodyPr/>
        <a:lstStyle/>
        <a:p>
          <a:r>
            <a:rPr lang="en-CA"/>
            <a:t>Collect &amp; validate data</a:t>
          </a:r>
        </a:p>
      </dgm:t>
    </dgm:pt>
    <dgm:pt modelId="{79B79F3F-957C-4DD5-8B9A-7662B0C3C4AD}" type="parTrans" cxnId="{B7E945A1-A7D8-4BC8-9CEF-A0EE16E73409}">
      <dgm:prSet/>
      <dgm:spPr/>
      <dgm:t>
        <a:bodyPr/>
        <a:lstStyle/>
        <a:p>
          <a:endParaRPr lang="en-CA"/>
        </a:p>
      </dgm:t>
    </dgm:pt>
    <dgm:pt modelId="{5EA0E8A6-0CFC-4166-9A96-FCBAC4868338}" type="sibTrans" cxnId="{B7E945A1-A7D8-4BC8-9CEF-A0EE16E73409}">
      <dgm:prSet/>
      <dgm:spPr/>
      <dgm:t>
        <a:bodyPr/>
        <a:lstStyle/>
        <a:p>
          <a:endParaRPr lang="en-CA"/>
        </a:p>
      </dgm:t>
    </dgm:pt>
    <dgm:pt modelId="{24175B06-2EEB-40D1-B7B9-81D83092D9EE}">
      <dgm:prSet phldrT="[Text]" phldr="0"/>
      <dgm:spPr/>
      <dgm:t>
        <a:bodyPr/>
        <a:lstStyle/>
        <a:p>
          <a:r>
            <a:rPr lang="en-CA"/>
            <a:t>Analyze</a:t>
          </a:r>
        </a:p>
      </dgm:t>
    </dgm:pt>
    <dgm:pt modelId="{6489EDE3-CCE3-49E7-A798-1480FD8C8E80}" type="parTrans" cxnId="{8653B354-A716-4A48-8EF8-DDB9AF2FF5E0}">
      <dgm:prSet/>
      <dgm:spPr/>
      <dgm:t>
        <a:bodyPr/>
        <a:lstStyle/>
        <a:p>
          <a:endParaRPr lang="en-CA"/>
        </a:p>
      </dgm:t>
    </dgm:pt>
    <dgm:pt modelId="{0BFA4A59-524E-4956-B362-606C75AFE296}" type="sibTrans" cxnId="{8653B354-A716-4A48-8EF8-DDB9AF2FF5E0}">
      <dgm:prSet/>
      <dgm:spPr/>
      <dgm:t>
        <a:bodyPr/>
        <a:lstStyle/>
        <a:p>
          <a:endParaRPr lang="en-CA"/>
        </a:p>
      </dgm:t>
    </dgm:pt>
    <dgm:pt modelId="{F16D7C58-0830-4BB5-B2C4-41BFC7A80A76}">
      <dgm:prSet phldrT="[Text]" phldr="0"/>
      <dgm:spPr/>
      <dgm:t>
        <a:bodyPr/>
        <a:lstStyle/>
        <a:p>
          <a:r>
            <a:rPr lang="en-CA"/>
            <a:t>Interpret &amp; communicate</a:t>
          </a:r>
        </a:p>
      </dgm:t>
    </dgm:pt>
    <dgm:pt modelId="{8CD66756-B764-4F48-A498-118F66347490}" type="parTrans" cxnId="{3CE96E6F-B2B0-4761-947D-FAE29794912E}">
      <dgm:prSet/>
      <dgm:spPr/>
      <dgm:t>
        <a:bodyPr/>
        <a:lstStyle/>
        <a:p>
          <a:endParaRPr lang="en-CA"/>
        </a:p>
      </dgm:t>
    </dgm:pt>
    <dgm:pt modelId="{33C50109-1EAD-4A72-B62C-8349BF0587DF}" type="sibTrans" cxnId="{3CE96E6F-B2B0-4761-947D-FAE29794912E}">
      <dgm:prSet/>
      <dgm:spPr/>
      <dgm:t>
        <a:bodyPr/>
        <a:lstStyle/>
        <a:p>
          <a:endParaRPr lang="en-CA"/>
        </a:p>
      </dgm:t>
    </dgm:pt>
    <dgm:pt modelId="{DBB767F0-67C0-4926-A2FD-AE142032C49F}" type="pres">
      <dgm:prSet presAssocID="{9979B0A2-2479-4B50-865E-7B4564104506}" presName="Name0" presStyleCnt="0">
        <dgm:presLayoutVars>
          <dgm:dir/>
          <dgm:resizeHandles val="exact"/>
        </dgm:presLayoutVars>
      </dgm:prSet>
      <dgm:spPr/>
    </dgm:pt>
    <dgm:pt modelId="{4E0C4C65-9A15-4161-95A6-316536B1F118}" type="pres">
      <dgm:prSet presAssocID="{9979B0A2-2479-4B50-865E-7B4564104506}" presName="cycle" presStyleCnt="0"/>
      <dgm:spPr/>
    </dgm:pt>
    <dgm:pt modelId="{7F5318B2-E24D-45FB-ABCE-42FBF8A01D67}" type="pres">
      <dgm:prSet presAssocID="{343A419F-AC8B-4C14-B9E4-83231F19E30F}" presName="nodeFirstNode" presStyleLbl="node1" presStyleIdx="0" presStyleCnt="4">
        <dgm:presLayoutVars>
          <dgm:bulletEnabled val="1"/>
        </dgm:presLayoutVars>
      </dgm:prSet>
      <dgm:spPr/>
    </dgm:pt>
    <dgm:pt modelId="{D453590C-1C8E-45B8-B504-520BC4BC29A2}" type="pres">
      <dgm:prSet presAssocID="{40A99EE0-FF41-4A30-8EDC-ADF55E80D8CE}" presName="sibTransFirstNode" presStyleLbl="bgShp" presStyleIdx="0" presStyleCnt="1"/>
      <dgm:spPr/>
    </dgm:pt>
    <dgm:pt modelId="{18A68FDF-DAEB-4387-B9FF-8E39531F6C0C}" type="pres">
      <dgm:prSet presAssocID="{CBBD8FA3-BF9B-44FE-9C74-FFA6AF6E69D6}" presName="nodeFollowingNodes" presStyleLbl="node1" presStyleIdx="1" presStyleCnt="4">
        <dgm:presLayoutVars>
          <dgm:bulletEnabled val="1"/>
        </dgm:presLayoutVars>
      </dgm:prSet>
      <dgm:spPr/>
    </dgm:pt>
    <dgm:pt modelId="{6C5FAFAB-EAF0-4E3A-8B0A-9D5D026B6FEF}" type="pres">
      <dgm:prSet presAssocID="{24175B06-2EEB-40D1-B7B9-81D83092D9EE}" presName="nodeFollowingNodes" presStyleLbl="node1" presStyleIdx="2" presStyleCnt="4">
        <dgm:presLayoutVars>
          <dgm:bulletEnabled val="1"/>
        </dgm:presLayoutVars>
      </dgm:prSet>
      <dgm:spPr/>
    </dgm:pt>
    <dgm:pt modelId="{0D65F03E-7F45-4A39-BFD9-1CB9A5771BE0}" type="pres">
      <dgm:prSet presAssocID="{F16D7C58-0830-4BB5-B2C4-41BFC7A80A76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73D0791D-7612-4F65-99D3-B62055FB2A1D}" srcId="{9979B0A2-2479-4B50-865E-7B4564104506}" destId="{343A419F-AC8B-4C14-B9E4-83231F19E30F}" srcOrd="0" destOrd="0" parTransId="{40FD7272-88B7-4504-A91A-6B7AB42382E2}" sibTransId="{40A99EE0-FF41-4A30-8EDC-ADF55E80D8CE}"/>
    <dgm:cxn modelId="{FA595B2A-87EB-4C2F-B841-5983FEB3DDED}" type="presOf" srcId="{40A99EE0-FF41-4A30-8EDC-ADF55E80D8CE}" destId="{D453590C-1C8E-45B8-B504-520BC4BC29A2}" srcOrd="0" destOrd="0" presId="urn:microsoft.com/office/officeart/2005/8/layout/cycle3"/>
    <dgm:cxn modelId="{4B81843A-7CAF-4177-878C-52AB248A34E5}" type="presOf" srcId="{9979B0A2-2479-4B50-865E-7B4564104506}" destId="{DBB767F0-67C0-4926-A2FD-AE142032C49F}" srcOrd="0" destOrd="0" presId="urn:microsoft.com/office/officeart/2005/8/layout/cycle3"/>
    <dgm:cxn modelId="{5DF7FD3A-B3F4-4FBD-BB81-738487A7F981}" type="presOf" srcId="{CBBD8FA3-BF9B-44FE-9C74-FFA6AF6E69D6}" destId="{18A68FDF-DAEB-4387-B9FF-8E39531F6C0C}" srcOrd="0" destOrd="0" presId="urn:microsoft.com/office/officeart/2005/8/layout/cycle3"/>
    <dgm:cxn modelId="{A4099E5C-31DC-41AE-953A-52BB8949F304}" type="presOf" srcId="{343A419F-AC8B-4C14-B9E4-83231F19E30F}" destId="{7F5318B2-E24D-45FB-ABCE-42FBF8A01D67}" srcOrd="0" destOrd="0" presId="urn:microsoft.com/office/officeart/2005/8/layout/cycle3"/>
    <dgm:cxn modelId="{3CE96E6F-B2B0-4761-947D-FAE29794912E}" srcId="{9979B0A2-2479-4B50-865E-7B4564104506}" destId="{F16D7C58-0830-4BB5-B2C4-41BFC7A80A76}" srcOrd="3" destOrd="0" parTransId="{8CD66756-B764-4F48-A498-118F66347490}" sibTransId="{33C50109-1EAD-4A72-B62C-8349BF0587DF}"/>
    <dgm:cxn modelId="{8653B354-A716-4A48-8EF8-DDB9AF2FF5E0}" srcId="{9979B0A2-2479-4B50-865E-7B4564104506}" destId="{24175B06-2EEB-40D1-B7B9-81D83092D9EE}" srcOrd="2" destOrd="0" parTransId="{6489EDE3-CCE3-49E7-A798-1480FD8C8E80}" sibTransId="{0BFA4A59-524E-4956-B362-606C75AFE296}"/>
    <dgm:cxn modelId="{B7E945A1-A7D8-4BC8-9CEF-A0EE16E73409}" srcId="{9979B0A2-2479-4B50-865E-7B4564104506}" destId="{CBBD8FA3-BF9B-44FE-9C74-FFA6AF6E69D6}" srcOrd="1" destOrd="0" parTransId="{79B79F3F-957C-4DD5-8B9A-7662B0C3C4AD}" sibTransId="{5EA0E8A6-0CFC-4166-9A96-FCBAC4868338}"/>
    <dgm:cxn modelId="{9C88DCD8-12FA-4408-A0A1-A22AAB6BC799}" type="presOf" srcId="{F16D7C58-0830-4BB5-B2C4-41BFC7A80A76}" destId="{0D65F03E-7F45-4A39-BFD9-1CB9A5771BE0}" srcOrd="0" destOrd="0" presId="urn:microsoft.com/office/officeart/2005/8/layout/cycle3"/>
    <dgm:cxn modelId="{636D32F7-FF12-4ABE-A699-578CC2BB60A8}" type="presOf" srcId="{24175B06-2EEB-40D1-B7B9-81D83092D9EE}" destId="{6C5FAFAB-EAF0-4E3A-8B0A-9D5D026B6FEF}" srcOrd="0" destOrd="0" presId="urn:microsoft.com/office/officeart/2005/8/layout/cycle3"/>
    <dgm:cxn modelId="{A33F6B24-00AA-406B-812A-8A569CD33416}" type="presParOf" srcId="{DBB767F0-67C0-4926-A2FD-AE142032C49F}" destId="{4E0C4C65-9A15-4161-95A6-316536B1F118}" srcOrd="0" destOrd="0" presId="urn:microsoft.com/office/officeart/2005/8/layout/cycle3"/>
    <dgm:cxn modelId="{B14F364B-644A-4ADA-9C23-0A6E48F2B08D}" type="presParOf" srcId="{4E0C4C65-9A15-4161-95A6-316536B1F118}" destId="{7F5318B2-E24D-45FB-ABCE-42FBF8A01D67}" srcOrd="0" destOrd="0" presId="urn:microsoft.com/office/officeart/2005/8/layout/cycle3"/>
    <dgm:cxn modelId="{B7AC4695-F5CA-4F4B-85ED-986C4718068B}" type="presParOf" srcId="{4E0C4C65-9A15-4161-95A6-316536B1F118}" destId="{D453590C-1C8E-45B8-B504-520BC4BC29A2}" srcOrd="1" destOrd="0" presId="urn:microsoft.com/office/officeart/2005/8/layout/cycle3"/>
    <dgm:cxn modelId="{E91172A5-4BF7-4363-AA6A-9574027F5388}" type="presParOf" srcId="{4E0C4C65-9A15-4161-95A6-316536B1F118}" destId="{18A68FDF-DAEB-4387-B9FF-8E39531F6C0C}" srcOrd="2" destOrd="0" presId="urn:microsoft.com/office/officeart/2005/8/layout/cycle3"/>
    <dgm:cxn modelId="{0A8AD74B-6550-4435-8EA8-EBD79231C603}" type="presParOf" srcId="{4E0C4C65-9A15-4161-95A6-316536B1F118}" destId="{6C5FAFAB-EAF0-4E3A-8B0A-9D5D026B6FEF}" srcOrd="3" destOrd="0" presId="urn:microsoft.com/office/officeart/2005/8/layout/cycle3"/>
    <dgm:cxn modelId="{C8C47BA0-2487-40DA-9D60-0442B53D58B2}" type="presParOf" srcId="{4E0C4C65-9A15-4161-95A6-316536B1F118}" destId="{0D65F03E-7F45-4A39-BFD9-1CB9A5771BE0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CE239A-1DDE-45CF-826B-630E1AFE551B}" type="doc">
      <dgm:prSet loTypeId="urn:microsoft.com/office/officeart/2005/8/layout/vList5" loCatId="list" qsTypeId="urn:microsoft.com/office/officeart/2005/8/quickstyle/simple4#1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4DA02F30-B25F-4393-8006-21B5E8571D2A}">
      <dgm:prSet/>
      <dgm:spPr/>
      <dgm:t>
        <a:bodyPr/>
        <a:lstStyle/>
        <a:p>
          <a:r>
            <a:rPr lang="en-CA" b="1" i="0"/>
            <a:t>Nominal</a:t>
          </a:r>
          <a:endParaRPr lang="en-US" dirty="0"/>
        </a:p>
      </dgm:t>
    </dgm:pt>
    <dgm:pt modelId="{9AB5F5D7-1386-496C-8C31-D5466528072A}" type="parTrans" cxnId="{F54BF2D4-D157-4E39-AE44-B2F35278360E}">
      <dgm:prSet/>
      <dgm:spPr/>
      <dgm:t>
        <a:bodyPr/>
        <a:lstStyle/>
        <a:p>
          <a:endParaRPr lang="en-US"/>
        </a:p>
      </dgm:t>
    </dgm:pt>
    <dgm:pt modelId="{DA5DBF29-8070-4C6D-9B61-C02062C7D0F5}" type="sibTrans" cxnId="{F54BF2D4-D157-4E39-AE44-B2F35278360E}">
      <dgm:prSet/>
      <dgm:spPr/>
      <dgm:t>
        <a:bodyPr/>
        <a:lstStyle/>
        <a:p>
          <a:endParaRPr lang="en-US"/>
        </a:p>
      </dgm:t>
    </dgm:pt>
    <dgm:pt modelId="{CE4CE117-ADF3-477A-9A89-AB144EF15B86}">
      <dgm:prSet/>
      <dgm:spPr/>
      <dgm:t>
        <a:bodyPr/>
        <a:lstStyle/>
        <a:p>
          <a:r>
            <a:rPr lang="en-CA" b="0" i="0"/>
            <a:t>Labels</a:t>
          </a:r>
          <a:endParaRPr lang="en-US"/>
        </a:p>
      </dgm:t>
    </dgm:pt>
    <dgm:pt modelId="{EA0EFF47-D860-4592-BD91-B37790E6365E}" type="parTrans" cxnId="{854BEEC3-04E4-4453-855B-CF816D6F51F8}">
      <dgm:prSet/>
      <dgm:spPr/>
      <dgm:t>
        <a:bodyPr/>
        <a:lstStyle/>
        <a:p>
          <a:endParaRPr lang="en-US"/>
        </a:p>
      </dgm:t>
    </dgm:pt>
    <dgm:pt modelId="{93DD8DB2-C0DD-46FD-AC31-747946C61832}" type="sibTrans" cxnId="{854BEEC3-04E4-4453-855B-CF816D6F51F8}">
      <dgm:prSet/>
      <dgm:spPr/>
      <dgm:t>
        <a:bodyPr/>
        <a:lstStyle/>
        <a:p>
          <a:endParaRPr lang="en-US"/>
        </a:p>
      </dgm:t>
    </dgm:pt>
    <dgm:pt modelId="{3BE2C876-4BE5-4D26-BA25-1BE06EF16DCC}">
      <dgm:prSet/>
      <dgm:spPr/>
      <dgm:t>
        <a:bodyPr/>
        <a:lstStyle/>
        <a:p>
          <a:r>
            <a:rPr lang="en-CA" b="0" i="0"/>
            <a:t>e.g. region, product type, browser</a:t>
          </a:r>
          <a:endParaRPr lang="en-US"/>
        </a:p>
      </dgm:t>
    </dgm:pt>
    <dgm:pt modelId="{6109C086-4260-4FFA-BE85-5DF2A91DD6F6}" type="parTrans" cxnId="{96EE7A6C-2755-4B3B-8308-623F7FDB52DA}">
      <dgm:prSet/>
      <dgm:spPr/>
      <dgm:t>
        <a:bodyPr/>
        <a:lstStyle/>
        <a:p>
          <a:endParaRPr lang="en-US"/>
        </a:p>
      </dgm:t>
    </dgm:pt>
    <dgm:pt modelId="{DD1D4580-81CA-47AC-996B-25078FB84FC6}" type="sibTrans" cxnId="{96EE7A6C-2755-4B3B-8308-623F7FDB52DA}">
      <dgm:prSet/>
      <dgm:spPr/>
      <dgm:t>
        <a:bodyPr/>
        <a:lstStyle/>
        <a:p>
          <a:endParaRPr lang="en-US"/>
        </a:p>
      </dgm:t>
    </dgm:pt>
    <dgm:pt modelId="{1F924F28-404D-429A-A98A-D7A8C2C252B6}">
      <dgm:prSet/>
      <dgm:spPr/>
      <dgm:t>
        <a:bodyPr/>
        <a:lstStyle/>
        <a:p>
          <a:r>
            <a:rPr lang="en-CA" b="1" i="0"/>
            <a:t>Ordinal</a:t>
          </a:r>
          <a:endParaRPr lang="en-US"/>
        </a:p>
      </dgm:t>
    </dgm:pt>
    <dgm:pt modelId="{DD242410-58CE-444B-B84E-A09D913C868D}" type="parTrans" cxnId="{BCB31C1B-0B11-494F-BE41-75D73E271BE1}">
      <dgm:prSet/>
      <dgm:spPr/>
      <dgm:t>
        <a:bodyPr/>
        <a:lstStyle/>
        <a:p>
          <a:endParaRPr lang="en-US"/>
        </a:p>
      </dgm:t>
    </dgm:pt>
    <dgm:pt modelId="{29E042B7-0E71-4F64-B60F-91748E0B4B33}" type="sibTrans" cxnId="{BCB31C1B-0B11-494F-BE41-75D73E271BE1}">
      <dgm:prSet/>
      <dgm:spPr/>
      <dgm:t>
        <a:bodyPr/>
        <a:lstStyle/>
        <a:p>
          <a:endParaRPr lang="en-US"/>
        </a:p>
      </dgm:t>
    </dgm:pt>
    <dgm:pt modelId="{529418E7-C37B-4BF3-A213-026377C903C9}">
      <dgm:prSet/>
      <dgm:spPr/>
      <dgm:t>
        <a:bodyPr/>
        <a:lstStyle/>
        <a:p>
          <a:r>
            <a:rPr lang="en-CA" b="0" i="0"/>
            <a:t>Ranked order</a:t>
          </a:r>
          <a:endParaRPr lang="en-US"/>
        </a:p>
      </dgm:t>
    </dgm:pt>
    <dgm:pt modelId="{322D24ED-6149-48E1-B739-DD442C396FDB}" type="parTrans" cxnId="{8F4AD089-E22C-4246-A323-D6942F75231F}">
      <dgm:prSet/>
      <dgm:spPr/>
      <dgm:t>
        <a:bodyPr/>
        <a:lstStyle/>
        <a:p>
          <a:endParaRPr lang="en-US"/>
        </a:p>
      </dgm:t>
    </dgm:pt>
    <dgm:pt modelId="{EB8AEE07-7DB8-41A7-8466-BE91F2B3A8CD}" type="sibTrans" cxnId="{8F4AD089-E22C-4246-A323-D6942F75231F}">
      <dgm:prSet/>
      <dgm:spPr/>
      <dgm:t>
        <a:bodyPr/>
        <a:lstStyle/>
        <a:p>
          <a:endParaRPr lang="en-US"/>
        </a:p>
      </dgm:t>
    </dgm:pt>
    <dgm:pt modelId="{6F19EBED-A202-41FF-9D8E-9E545D5F10A8}">
      <dgm:prSet/>
      <dgm:spPr/>
      <dgm:t>
        <a:bodyPr/>
        <a:lstStyle/>
        <a:p>
          <a:r>
            <a:rPr lang="en-CA" b="0" i="0"/>
            <a:t>e.g. satisfaction level, priority</a:t>
          </a:r>
          <a:endParaRPr lang="en-US"/>
        </a:p>
      </dgm:t>
    </dgm:pt>
    <dgm:pt modelId="{0356B5A7-B119-4D4F-9551-6269FC60479D}" type="parTrans" cxnId="{6B8B90B3-111D-4D5E-A7A3-1603F7984AA6}">
      <dgm:prSet/>
      <dgm:spPr/>
      <dgm:t>
        <a:bodyPr/>
        <a:lstStyle/>
        <a:p>
          <a:endParaRPr lang="en-US"/>
        </a:p>
      </dgm:t>
    </dgm:pt>
    <dgm:pt modelId="{2E6CB2DA-9E98-4A5C-8473-99D38AF7F07D}" type="sibTrans" cxnId="{6B8B90B3-111D-4D5E-A7A3-1603F7984AA6}">
      <dgm:prSet/>
      <dgm:spPr/>
      <dgm:t>
        <a:bodyPr/>
        <a:lstStyle/>
        <a:p>
          <a:endParaRPr lang="en-US"/>
        </a:p>
      </dgm:t>
    </dgm:pt>
    <dgm:pt modelId="{277A32EB-90C5-4F53-AE63-C81B1A94A166}">
      <dgm:prSet/>
      <dgm:spPr/>
      <dgm:t>
        <a:bodyPr/>
        <a:lstStyle/>
        <a:p>
          <a:r>
            <a:rPr lang="en-CA" b="1" i="0"/>
            <a:t>Interval</a:t>
          </a:r>
          <a:endParaRPr lang="en-US"/>
        </a:p>
      </dgm:t>
    </dgm:pt>
    <dgm:pt modelId="{A33F5256-26E1-4C85-8CD9-5D93C1C60B05}" type="parTrans" cxnId="{99E77C2C-B7C6-4578-B6A3-C51CD2C41E30}">
      <dgm:prSet/>
      <dgm:spPr/>
      <dgm:t>
        <a:bodyPr/>
        <a:lstStyle/>
        <a:p>
          <a:endParaRPr lang="en-US"/>
        </a:p>
      </dgm:t>
    </dgm:pt>
    <dgm:pt modelId="{ACD0CAE9-ACA9-4C4F-9B4F-2F05ABFF7B40}" type="sibTrans" cxnId="{99E77C2C-B7C6-4578-B6A3-C51CD2C41E30}">
      <dgm:prSet/>
      <dgm:spPr/>
      <dgm:t>
        <a:bodyPr/>
        <a:lstStyle/>
        <a:p>
          <a:endParaRPr lang="en-US"/>
        </a:p>
      </dgm:t>
    </dgm:pt>
    <dgm:pt modelId="{B2BA8681-7F33-465C-8ECF-DBC8103857F0}">
      <dgm:prSet/>
      <dgm:spPr/>
      <dgm:t>
        <a:bodyPr/>
        <a:lstStyle/>
        <a:p>
          <a:r>
            <a:rPr lang="en-US" b="0" i="0" dirty="0"/>
            <a:t>Equal spacing between values, but zero does not mean “none.”</a:t>
          </a:r>
          <a:endParaRPr lang="en-US" dirty="0"/>
        </a:p>
      </dgm:t>
    </dgm:pt>
    <dgm:pt modelId="{D72C1C79-3ABD-42EA-9441-326A77D7D08B}" type="parTrans" cxnId="{B56765C8-58AE-4555-A735-F641BC366CDD}">
      <dgm:prSet/>
      <dgm:spPr/>
      <dgm:t>
        <a:bodyPr/>
        <a:lstStyle/>
        <a:p>
          <a:endParaRPr lang="en-US"/>
        </a:p>
      </dgm:t>
    </dgm:pt>
    <dgm:pt modelId="{B6F9E051-12D9-4971-B768-D26FE2CF2ADE}" type="sibTrans" cxnId="{B56765C8-58AE-4555-A735-F641BC366CDD}">
      <dgm:prSet/>
      <dgm:spPr/>
      <dgm:t>
        <a:bodyPr/>
        <a:lstStyle/>
        <a:p>
          <a:endParaRPr lang="en-US"/>
        </a:p>
      </dgm:t>
    </dgm:pt>
    <dgm:pt modelId="{819D29DD-ED9A-4E1C-AD0D-240C5F96A6EC}">
      <dgm:prSet/>
      <dgm:spPr/>
      <dgm:t>
        <a:bodyPr/>
        <a:lstStyle/>
        <a:p>
          <a:r>
            <a:rPr lang="en-CA" b="0" i="0" dirty="0"/>
            <a:t>e.g. temperature, time of day, calendar years</a:t>
          </a:r>
          <a:endParaRPr lang="en-US" dirty="0"/>
        </a:p>
      </dgm:t>
    </dgm:pt>
    <dgm:pt modelId="{1C064B00-6153-4579-BCFD-BB4FF57E2EC1}" type="parTrans" cxnId="{E009DF3D-4FAF-4963-AD15-941F90DF2926}">
      <dgm:prSet/>
      <dgm:spPr/>
      <dgm:t>
        <a:bodyPr/>
        <a:lstStyle/>
        <a:p>
          <a:endParaRPr lang="en-US"/>
        </a:p>
      </dgm:t>
    </dgm:pt>
    <dgm:pt modelId="{AAD77032-BC19-4BAB-9FD8-AD5504695B6A}" type="sibTrans" cxnId="{E009DF3D-4FAF-4963-AD15-941F90DF2926}">
      <dgm:prSet/>
      <dgm:spPr/>
      <dgm:t>
        <a:bodyPr/>
        <a:lstStyle/>
        <a:p>
          <a:endParaRPr lang="en-US"/>
        </a:p>
      </dgm:t>
    </dgm:pt>
    <dgm:pt modelId="{82EFD0A0-8A0A-4438-9408-8A3F62E4C143}">
      <dgm:prSet/>
      <dgm:spPr/>
      <dgm:t>
        <a:bodyPr/>
        <a:lstStyle/>
        <a:p>
          <a:r>
            <a:rPr lang="en-CA" b="1" i="0"/>
            <a:t>Ratio</a:t>
          </a:r>
          <a:endParaRPr lang="en-US"/>
        </a:p>
      </dgm:t>
    </dgm:pt>
    <dgm:pt modelId="{9AEE86DD-8F42-4751-816B-411CFBBC6692}" type="parTrans" cxnId="{4F643663-8F8F-46DF-A8C3-AA0CC6DD24F6}">
      <dgm:prSet/>
      <dgm:spPr/>
      <dgm:t>
        <a:bodyPr/>
        <a:lstStyle/>
        <a:p>
          <a:endParaRPr lang="en-US"/>
        </a:p>
      </dgm:t>
    </dgm:pt>
    <dgm:pt modelId="{7E647309-DD49-4316-A922-0D670D8B2CEF}" type="sibTrans" cxnId="{4F643663-8F8F-46DF-A8C3-AA0CC6DD24F6}">
      <dgm:prSet/>
      <dgm:spPr/>
      <dgm:t>
        <a:bodyPr/>
        <a:lstStyle/>
        <a:p>
          <a:endParaRPr lang="en-US"/>
        </a:p>
      </dgm:t>
    </dgm:pt>
    <dgm:pt modelId="{375666BF-29FB-4538-AFC0-CEB63ACEF136}">
      <dgm:prSet/>
      <dgm:spPr/>
      <dgm:t>
        <a:bodyPr/>
        <a:lstStyle/>
        <a:p>
          <a:r>
            <a:rPr lang="en-CA" b="0" i="0"/>
            <a:t>“Regular” numbers with true zero.</a:t>
          </a:r>
          <a:endParaRPr lang="en-US"/>
        </a:p>
      </dgm:t>
    </dgm:pt>
    <dgm:pt modelId="{47811060-B195-4B9F-B75C-91DB6849B96B}" type="parTrans" cxnId="{DAA390FA-1302-4F74-9EE5-DCEA60EE4A8E}">
      <dgm:prSet/>
      <dgm:spPr/>
      <dgm:t>
        <a:bodyPr/>
        <a:lstStyle/>
        <a:p>
          <a:endParaRPr lang="en-US"/>
        </a:p>
      </dgm:t>
    </dgm:pt>
    <dgm:pt modelId="{03DFCCD4-2A2A-4190-85DF-37B68B89DD89}" type="sibTrans" cxnId="{DAA390FA-1302-4F74-9EE5-DCEA60EE4A8E}">
      <dgm:prSet/>
      <dgm:spPr/>
      <dgm:t>
        <a:bodyPr/>
        <a:lstStyle/>
        <a:p>
          <a:endParaRPr lang="en-US"/>
        </a:p>
      </dgm:t>
    </dgm:pt>
    <dgm:pt modelId="{1806DC96-4A8B-4114-AEFA-9356A625CD69}">
      <dgm:prSet/>
      <dgm:spPr/>
      <dgm:t>
        <a:bodyPr/>
        <a:lstStyle/>
        <a:p>
          <a:r>
            <a:rPr lang="en-CA" b="0" i="0"/>
            <a:t>e.g. revenue, time spent on a task, file size</a:t>
          </a:r>
          <a:endParaRPr lang="en-US"/>
        </a:p>
      </dgm:t>
    </dgm:pt>
    <dgm:pt modelId="{E26F88F8-43B1-49DE-91ED-F60E85C68BDA}" type="parTrans" cxnId="{907096F3-EDBB-4040-9809-90F2ADBB3885}">
      <dgm:prSet/>
      <dgm:spPr/>
      <dgm:t>
        <a:bodyPr/>
        <a:lstStyle/>
        <a:p>
          <a:endParaRPr lang="en-US"/>
        </a:p>
      </dgm:t>
    </dgm:pt>
    <dgm:pt modelId="{7FBD09EE-2187-4262-90D2-9DD757B0663B}" type="sibTrans" cxnId="{907096F3-EDBB-4040-9809-90F2ADBB3885}">
      <dgm:prSet/>
      <dgm:spPr/>
      <dgm:t>
        <a:bodyPr/>
        <a:lstStyle/>
        <a:p>
          <a:endParaRPr lang="en-US"/>
        </a:p>
      </dgm:t>
    </dgm:pt>
    <dgm:pt modelId="{A0303BBC-4CAF-446C-BDAB-808C453C6163}" type="pres">
      <dgm:prSet presAssocID="{26CE239A-1DDE-45CF-826B-630E1AFE551B}" presName="Name0" presStyleCnt="0">
        <dgm:presLayoutVars>
          <dgm:dir/>
          <dgm:animLvl val="lvl"/>
          <dgm:resizeHandles val="exact"/>
        </dgm:presLayoutVars>
      </dgm:prSet>
      <dgm:spPr/>
    </dgm:pt>
    <dgm:pt modelId="{7D98640F-04B7-46A6-8A13-B25AE09FFB50}" type="pres">
      <dgm:prSet presAssocID="{4DA02F30-B25F-4393-8006-21B5E8571D2A}" presName="linNode" presStyleCnt="0"/>
      <dgm:spPr/>
    </dgm:pt>
    <dgm:pt modelId="{F4DDC91C-61A0-405D-8512-82F58503FFAC}" type="pres">
      <dgm:prSet presAssocID="{4DA02F30-B25F-4393-8006-21B5E8571D2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C385FE6-8FBD-412B-BC6C-9297F27D3A29}" type="pres">
      <dgm:prSet presAssocID="{4DA02F30-B25F-4393-8006-21B5E8571D2A}" presName="descendantText" presStyleLbl="alignAccFollowNode1" presStyleIdx="0" presStyleCnt="4">
        <dgm:presLayoutVars>
          <dgm:bulletEnabled val="1"/>
        </dgm:presLayoutVars>
      </dgm:prSet>
      <dgm:spPr/>
    </dgm:pt>
    <dgm:pt modelId="{57DCDA7B-EDDB-44D3-BF40-2AD24CC0101E}" type="pres">
      <dgm:prSet presAssocID="{DA5DBF29-8070-4C6D-9B61-C02062C7D0F5}" presName="sp" presStyleCnt="0"/>
      <dgm:spPr/>
    </dgm:pt>
    <dgm:pt modelId="{03F6EC6C-932B-4200-9D76-5056BFE6B832}" type="pres">
      <dgm:prSet presAssocID="{1F924F28-404D-429A-A98A-D7A8C2C252B6}" presName="linNode" presStyleCnt="0"/>
      <dgm:spPr/>
    </dgm:pt>
    <dgm:pt modelId="{6DF7B414-A09E-492D-8AD4-4B04CB4008DF}" type="pres">
      <dgm:prSet presAssocID="{1F924F28-404D-429A-A98A-D7A8C2C252B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D7421785-1AC8-4079-B59D-41EFEC8AD2D5}" type="pres">
      <dgm:prSet presAssocID="{1F924F28-404D-429A-A98A-D7A8C2C252B6}" presName="descendantText" presStyleLbl="alignAccFollowNode1" presStyleIdx="1" presStyleCnt="4">
        <dgm:presLayoutVars>
          <dgm:bulletEnabled val="1"/>
        </dgm:presLayoutVars>
      </dgm:prSet>
      <dgm:spPr/>
    </dgm:pt>
    <dgm:pt modelId="{1DA2C805-E8B1-432F-AB9C-6C4F601DD522}" type="pres">
      <dgm:prSet presAssocID="{29E042B7-0E71-4F64-B60F-91748E0B4B33}" presName="sp" presStyleCnt="0"/>
      <dgm:spPr/>
    </dgm:pt>
    <dgm:pt modelId="{E4EBE9A2-9306-473E-8C14-701B51465F92}" type="pres">
      <dgm:prSet presAssocID="{277A32EB-90C5-4F53-AE63-C81B1A94A166}" presName="linNode" presStyleCnt="0"/>
      <dgm:spPr/>
    </dgm:pt>
    <dgm:pt modelId="{823D96A6-5E4C-4D90-B73E-D7E876B0EAE3}" type="pres">
      <dgm:prSet presAssocID="{277A32EB-90C5-4F53-AE63-C81B1A94A166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1E63A0A-A9A5-4933-B2A0-1E3542096D0F}" type="pres">
      <dgm:prSet presAssocID="{277A32EB-90C5-4F53-AE63-C81B1A94A166}" presName="descendantText" presStyleLbl="alignAccFollowNode1" presStyleIdx="2" presStyleCnt="4">
        <dgm:presLayoutVars>
          <dgm:bulletEnabled val="1"/>
        </dgm:presLayoutVars>
      </dgm:prSet>
      <dgm:spPr/>
    </dgm:pt>
    <dgm:pt modelId="{CE522DDD-665B-4993-8F12-5020766DCDEB}" type="pres">
      <dgm:prSet presAssocID="{ACD0CAE9-ACA9-4C4F-9B4F-2F05ABFF7B40}" presName="sp" presStyleCnt="0"/>
      <dgm:spPr/>
    </dgm:pt>
    <dgm:pt modelId="{5789B43D-3C06-4D4A-903D-52DED330F9E7}" type="pres">
      <dgm:prSet presAssocID="{82EFD0A0-8A0A-4438-9408-8A3F62E4C143}" presName="linNode" presStyleCnt="0"/>
      <dgm:spPr/>
    </dgm:pt>
    <dgm:pt modelId="{E01F4DE7-46D2-49CC-869F-3D82C9549FE8}" type="pres">
      <dgm:prSet presAssocID="{82EFD0A0-8A0A-4438-9408-8A3F62E4C143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2B2166ED-2F0E-4139-8E8B-70BA91833ACF}" type="pres">
      <dgm:prSet presAssocID="{82EFD0A0-8A0A-4438-9408-8A3F62E4C143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1E00EC02-91D8-4001-BD32-E7BC82569BEF}" type="presOf" srcId="{375666BF-29FB-4538-AFC0-CEB63ACEF136}" destId="{2B2166ED-2F0E-4139-8E8B-70BA91833ACF}" srcOrd="0" destOrd="0" presId="urn:microsoft.com/office/officeart/2005/8/layout/vList5"/>
    <dgm:cxn modelId="{BCB31C1B-0B11-494F-BE41-75D73E271BE1}" srcId="{26CE239A-1DDE-45CF-826B-630E1AFE551B}" destId="{1F924F28-404D-429A-A98A-D7A8C2C252B6}" srcOrd="1" destOrd="0" parTransId="{DD242410-58CE-444B-B84E-A09D913C868D}" sibTransId="{29E042B7-0E71-4F64-B60F-91748E0B4B33}"/>
    <dgm:cxn modelId="{0A80C31D-3409-4988-8B51-37A4B120053D}" type="presOf" srcId="{CE4CE117-ADF3-477A-9A89-AB144EF15B86}" destId="{9C385FE6-8FBD-412B-BC6C-9297F27D3A29}" srcOrd="0" destOrd="0" presId="urn:microsoft.com/office/officeart/2005/8/layout/vList5"/>
    <dgm:cxn modelId="{AA641523-AF8B-4797-BFDE-C9C791C0167E}" type="presOf" srcId="{4DA02F30-B25F-4393-8006-21B5E8571D2A}" destId="{F4DDC91C-61A0-405D-8512-82F58503FFAC}" srcOrd="0" destOrd="0" presId="urn:microsoft.com/office/officeart/2005/8/layout/vList5"/>
    <dgm:cxn modelId="{3151B523-02A0-4BBE-BC57-B778FCB9F599}" type="presOf" srcId="{1806DC96-4A8B-4114-AEFA-9356A625CD69}" destId="{2B2166ED-2F0E-4139-8E8B-70BA91833ACF}" srcOrd="0" destOrd="1" presId="urn:microsoft.com/office/officeart/2005/8/layout/vList5"/>
    <dgm:cxn modelId="{13570426-4599-4343-B36C-64BB7D71A4BB}" type="presOf" srcId="{1F924F28-404D-429A-A98A-D7A8C2C252B6}" destId="{6DF7B414-A09E-492D-8AD4-4B04CB4008DF}" srcOrd="0" destOrd="0" presId="urn:microsoft.com/office/officeart/2005/8/layout/vList5"/>
    <dgm:cxn modelId="{99E77C2C-B7C6-4578-B6A3-C51CD2C41E30}" srcId="{26CE239A-1DDE-45CF-826B-630E1AFE551B}" destId="{277A32EB-90C5-4F53-AE63-C81B1A94A166}" srcOrd="2" destOrd="0" parTransId="{A33F5256-26E1-4C85-8CD9-5D93C1C60B05}" sibTransId="{ACD0CAE9-ACA9-4C4F-9B4F-2F05ABFF7B40}"/>
    <dgm:cxn modelId="{E009DF3D-4FAF-4963-AD15-941F90DF2926}" srcId="{277A32EB-90C5-4F53-AE63-C81B1A94A166}" destId="{819D29DD-ED9A-4E1C-AD0D-240C5F96A6EC}" srcOrd="1" destOrd="0" parTransId="{1C064B00-6153-4579-BCFD-BB4FF57E2EC1}" sibTransId="{AAD77032-BC19-4BAB-9FD8-AD5504695B6A}"/>
    <dgm:cxn modelId="{4F643663-8F8F-46DF-A8C3-AA0CC6DD24F6}" srcId="{26CE239A-1DDE-45CF-826B-630E1AFE551B}" destId="{82EFD0A0-8A0A-4438-9408-8A3F62E4C143}" srcOrd="3" destOrd="0" parTransId="{9AEE86DD-8F42-4751-816B-411CFBBC6692}" sibTransId="{7E647309-DD49-4316-A922-0D670D8B2CEF}"/>
    <dgm:cxn modelId="{96EE7A6C-2755-4B3B-8308-623F7FDB52DA}" srcId="{4DA02F30-B25F-4393-8006-21B5E8571D2A}" destId="{3BE2C876-4BE5-4D26-BA25-1BE06EF16DCC}" srcOrd="1" destOrd="0" parTransId="{6109C086-4260-4FFA-BE85-5DF2A91DD6F6}" sibTransId="{DD1D4580-81CA-47AC-996B-25078FB84FC6}"/>
    <dgm:cxn modelId="{39A6535A-2A97-4A70-9BD0-4D3DB723B0B6}" type="presOf" srcId="{82EFD0A0-8A0A-4438-9408-8A3F62E4C143}" destId="{E01F4DE7-46D2-49CC-869F-3D82C9549FE8}" srcOrd="0" destOrd="0" presId="urn:microsoft.com/office/officeart/2005/8/layout/vList5"/>
    <dgm:cxn modelId="{8F4AD089-E22C-4246-A323-D6942F75231F}" srcId="{1F924F28-404D-429A-A98A-D7A8C2C252B6}" destId="{529418E7-C37B-4BF3-A213-026377C903C9}" srcOrd="0" destOrd="0" parTransId="{322D24ED-6149-48E1-B739-DD442C396FDB}" sibTransId="{EB8AEE07-7DB8-41A7-8466-BE91F2B3A8CD}"/>
    <dgm:cxn modelId="{E77F0F94-96A2-4C7D-B5E5-31FDBAC61270}" type="presOf" srcId="{B2BA8681-7F33-465C-8ECF-DBC8103857F0}" destId="{F1E63A0A-A9A5-4933-B2A0-1E3542096D0F}" srcOrd="0" destOrd="0" presId="urn:microsoft.com/office/officeart/2005/8/layout/vList5"/>
    <dgm:cxn modelId="{02D0DFA5-E7DD-4514-8C92-B0D401973C0D}" type="presOf" srcId="{3BE2C876-4BE5-4D26-BA25-1BE06EF16DCC}" destId="{9C385FE6-8FBD-412B-BC6C-9297F27D3A29}" srcOrd="0" destOrd="1" presId="urn:microsoft.com/office/officeart/2005/8/layout/vList5"/>
    <dgm:cxn modelId="{AAF199AF-0D75-4455-8876-D281CD4A9A36}" type="presOf" srcId="{529418E7-C37B-4BF3-A213-026377C903C9}" destId="{D7421785-1AC8-4079-B59D-41EFEC8AD2D5}" srcOrd="0" destOrd="0" presId="urn:microsoft.com/office/officeart/2005/8/layout/vList5"/>
    <dgm:cxn modelId="{6B8B90B3-111D-4D5E-A7A3-1603F7984AA6}" srcId="{1F924F28-404D-429A-A98A-D7A8C2C252B6}" destId="{6F19EBED-A202-41FF-9D8E-9E545D5F10A8}" srcOrd="1" destOrd="0" parTransId="{0356B5A7-B119-4D4F-9551-6269FC60479D}" sibTransId="{2E6CB2DA-9E98-4A5C-8473-99D38AF7F07D}"/>
    <dgm:cxn modelId="{2261A7B5-04AB-4DE4-B2EE-1E52B404904D}" type="presOf" srcId="{277A32EB-90C5-4F53-AE63-C81B1A94A166}" destId="{823D96A6-5E4C-4D90-B73E-D7E876B0EAE3}" srcOrd="0" destOrd="0" presId="urn:microsoft.com/office/officeart/2005/8/layout/vList5"/>
    <dgm:cxn modelId="{854BEEC3-04E4-4453-855B-CF816D6F51F8}" srcId="{4DA02F30-B25F-4393-8006-21B5E8571D2A}" destId="{CE4CE117-ADF3-477A-9A89-AB144EF15B86}" srcOrd="0" destOrd="0" parTransId="{EA0EFF47-D860-4592-BD91-B37790E6365E}" sibTransId="{93DD8DB2-C0DD-46FD-AC31-747946C61832}"/>
    <dgm:cxn modelId="{B56765C8-58AE-4555-A735-F641BC366CDD}" srcId="{277A32EB-90C5-4F53-AE63-C81B1A94A166}" destId="{B2BA8681-7F33-465C-8ECF-DBC8103857F0}" srcOrd="0" destOrd="0" parTransId="{D72C1C79-3ABD-42EA-9441-326A77D7D08B}" sibTransId="{B6F9E051-12D9-4971-B768-D26FE2CF2ADE}"/>
    <dgm:cxn modelId="{F54BF2D4-D157-4E39-AE44-B2F35278360E}" srcId="{26CE239A-1DDE-45CF-826B-630E1AFE551B}" destId="{4DA02F30-B25F-4393-8006-21B5E8571D2A}" srcOrd="0" destOrd="0" parTransId="{9AB5F5D7-1386-496C-8C31-D5466528072A}" sibTransId="{DA5DBF29-8070-4C6D-9B61-C02062C7D0F5}"/>
    <dgm:cxn modelId="{6138F4DD-9CBE-406B-929E-17A1DC3CB722}" type="presOf" srcId="{26CE239A-1DDE-45CF-826B-630E1AFE551B}" destId="{A0303BBC-4CAF-446C-BDAB-808C453C6163}" srcOrd="0" destOrd="0" presId="urn:microsoft.com/office/officeart/2005/8/layout/vList5"/>
    <dgm:cxn modelId="{28746DE8-3C2E-4D1E-B384-E2C306BFEFD2}" type="presOf" srcId="{819D29DD-ED9A-4E1C-AD0D-240C5F96A6EC}" destId="{F1E63A0A-A9A5-4933-B2A0-1E3542096D0F}" srcOrd="0" destOrd="1" presId="urn:microsoft.com/office/officeart/2005/8/layout/vList5"/>
    <dgm:cxn modelId="{907096F3-EDBB-4040-9809-90F2ADBB3885}" srcId="{82EFD0A0-8A0A-4438-9408-8A3F62E4C143}" destId="{1806DC96-4A8B-4114-AEFA-9356A625CD69}" srcOrd="1" destOrd="0" parTransId="{E26F88F8-43B1-49DE-91ED-F60E85C68BDA}" sibTransId="{7FBD09EE-2187-4262-90D2-9DD757B0663B}"/>
    <dgm:cxn modelId="{DAA390FA-1302-4F74-9EE5-DCEA60EE4A8E}" srcId="{82EFD0A0-8A0A-4438-9408-8A3F62E4C143}" destId="{375666BF-29FB-4538-AFC0-CEB63ACEF136}" srcOrd="0" destOrd="0" parTransId="{47811060-B195-4B9F-B75C-91DB6849B96B}" sibTransId="{03DFCCD4-2A2A-4190-85DF-37B68B89DD89}"/>
    <dgm:cxn modelId="{980CC6FE-65DD-43BE-8431-5F9C2EEB6114}" type="presOf" srcId="{6F19EBED-A202-41FF-9D8E-9E545D5F10A8}" destId="{D7421785-1AC8-4079-B59D-41EFEC8AD2D5}" srcOrd="0" destOrd="1" presId="urn:microsoft.com/office/officeart/2005/8/layout/vList5"/>
    <dgm:cxn modelId="{03A4CA29-535F-4FA9-8A4A-7DC7EA21876F}" type="presParOf" srcId="{A0303BBC-4CAF-446C-BDAB-808C453C6163}" destId="{7D98640F-04B7-46A6-8A13-B25AE09FFB50}" srcOrd="0" destOrd="0" presId="urn:microsoft.com/office/officeart/2005/8/layout/vList5"/>
    <dgm:cxn modelId="{D89E08F5-2997-44AE-8650-3BB80C829F0C}" type="presParOf" srcId="{7D98640F-04B7-46A6-8A13-B25AE09FFB50}" destId="{F4DDC91C-61A0-405D-8512-82F58503FFAC}" srcOrd="0" destOrd="0" presId="urn:microsoft.com/office/officeart/2005/8/layout/vList5"/>
    <dgm:cxn modelId="{5665BEFE-7692-49CE-B116-A145A0BE214C}" type="presParOf" srcId="{7D98640F-04B7-46A6-8A13-B25AE09FFB50}" destId="{9C385FE6-8FBD-412B-BC6C-9297F27D3A29}" srcOrd="1" destOrd="0" presId="urn:microsoft.com/office/officeart/2005/8/layout/vList5"/>
    <dgm:cxn modelId="{098C4949-212F-4D79-B089-AE617F6BFD71}" type="presParOf" srcId="{A0303BBC-4CAF-446C-BDAB-808C453C6163}" destId="{57DCDA7B-EDDB-44D3-BF40-2AD24CC0101E}" srcOrd="1" destOrd="0" presId="urn:microsoft.com/office/officeart/2005/8/layout/vList5"/>
    <dgm:cxn modelId="{E4D32C75-CD88-49F3-AD73-FEA0CC28D8F6}" type="presParOf" srcId="{A0303BBC-4CAF-446C-BDAB-808C453C6163}" destId="{03F6EC6C-932B-4200-9D76-5056BFE6B832}" srcOrd="2" destOrd="0" presId="urn:microsoft.com/office/officeart/2005/8/layout/vList5"/>
    <dgm:cxn modelId="{A7CAE635-1777-49AC-A134-1315DE21ED59}" type="presParOf" srcId="{03F6EC6C-932B-4200-9D76-5056BFE6B832}" destId="{6DF7B414-A09E-492D-8AD4-4B04CB4008DF}" srcOrd="0" destOrd="0" presId="urn:microsoft.com/office/officeart/2005/8/layout/vList5"/>
    <dgm:cxn modelId="{089DAD39-1F0E-48A2-8949-695A294CFAE0}" type="presParOf" srcId="{03F6EC6C-932B-4200-9D76-5056BFE6B832}" destId="{D7421785-1AC8-4079-B59D-41EFEC8AD2D5}" srcOrd="1" destOrd="0" presId="urn:microsoft.com/office/officeart/2005/8/layout/vList5"/>
    <dgm:cxn modelId="{04D39DA4-6FA4-4C59-933B-36FC2BA0C7A3}" type="presParOf" srcId="{A0303BBC-4CAF-446C-BDAB-808C453C6163}" destId="{1DA2C805-E8B1-432F-AB9C-6C4F601DD522}" srcOrd="3" destOrd="0" presId="urn:microsoft.com/office/officeart/2005/8/layout/vList5"/>
    <dgm:cxn modelId="{2B0A8B5D-28C5-4D9A-99DE-9F7366D1D42D}" type="presParOf" srcId="{A0303BBC-4CAF-446C-BDAB-808C453C6163}" destId="{E4EBE9A2-9306-473E-8C14-701B51465F92}" srcOrd="4" destOrd="0" presId="urn:microsoft.com/office/officeart/2005/8/layout/vList5"/>
    <dgm:cxn modelId="{7B0DD326-134C-411E-A195-73DB5953A2A7}" type="presParOf" srcId="{E4EBE9A2-9306-473E-8C14-701B51465F92}" destId="{823D96A6-5E4C-4D90-B73E-D7E876B0EAE3}" srcOrd="0" destOrd="0" presId="urn:microsoft.com/office/officeart/2005/8/layout/vList5"/>
    <dgm:cxn modelId="{A7E02A39-09DF-4493-9EC6-846DE341BD3D}" type="presParOf" srcId="{E4EBE9A2-9306-473E-8C14-701B51465F92}" destId="{F1E63A0A-A9A5-4933-B2A0-1E3542096D0F}" srcOrd="1" destOrd="0" presId="urn:microsoft.com/office/officeart/2005/8/layout/vList5"/>
    <dgm:cxn modelId="{49188D1E-5B20-48D9-B112-274BDF63E903}" type="presParOf" srcId="{A0303BBC-4CAF-446C-BDAB-808C453C6163}" destId="{CE522DDD-665B-4993-8F12-5020766DCDEB}" srcOrd="5" destOrd="0" presId="urn:microsoft.com/office/officeart/2005/8/layout/vList5"/>
    <dgm:cxn modelId="{B68309EC-6978-48EF-95D6-FA5A50EA831B}" type="presParOf" srcId="{A0303BBC-4CAF-446C-BDAB-808C453C6163}" destId="{5789B43D-3C06-4D4A-903D-52DED330F9E7}" srcOrd="6" destOrd="0" presId="urn:microsoft.com/office/officeart/2005/8/layout/vList5"/>
    <dgm:cxn modelId="{5CBD0539-EC5F-4C75-A53C-925B49F24B07}" type="presParOf" srcId="{5789B43D-3C06-4D4A-903D-52DED330F9E7}" destId="{E01F4DE7-46D2-49CC-869F-3D82C9549FE8}" srcOrd="0" destOrd="0" presId="urn:microsoft.com/office/officeart/2005/8/layout/vList5"/>
    <dgm:cxn modelId="{ECC37446-F0BE-4669-A680-9B60F6044994}" type="presParOf" srcId="{5789B43D-3C06-4D4A-903D-52DED330F9E7}" destId="{2B2166ED-2F0E-4139-8E8B-70BA91833AC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53590C-1C8E-45B8-B504-520BC4BC29A2}">
      <dsp:nvSpPr>
        <dsp:cNvPr id="0" name=""/>
        <dsp:cNvSpPr/>
      </dsp:nvSpPr>
      <dsp:spPr>
        <a:xfrm>
          <a:off x="3508354" y="-97701"/>
          <a:ext cx="3498890" cy="3498890"/>
        </a:xfrm>
        <a:prstGeom prst="circularArrow">
          <a:avLst>
            <a:gd name="adj1" fmla="val 4668"/>
            <a:gd name="adj2" fmla="val 272909"/>
            <a:gd name="adj3" fmla="val 12811307"/>
            <a:gd name="adj4" fmla="val 18044604"/>
            <a:gd name="adj5" fmla="val 484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5318B2-E24D-45FB-ABCE-42FBF8A01D67}">
      <dsp:nvSpPr>
        <dsp:cNvPr id="0" name=""/>
        <dsp:cNvSpPr/>
      </dsp:nvSpPr>
      <dsp:spPr>
        <a:xfrm>
          <a:off x="4087117" y="882"/>
          <a:ext cx="2341364" cy="11706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/>
            <a:t>Define the question</a:t>
          </a:r>
        </a:p>
      </dsp:txBody>
      <dsp:txXfrm>
        <a:off x="4144265" y="58030"/>
        <a:ext cx="2227068" cy="1056386"/>
      </dsp:txXfrm>
    </dsp:sp>
    <dsp:sp modelId="{18A68FDF-DAEB-4387-B9FF-8E39531F6C0C}">
      <dsp:nvSpPr>
        <dsp:cNvPr id="0" name=""/>
        <dsp:cNvSpPr/>
      </dsp:nvSpPr>
      <dsp:spPr>
        <a:xfrm>
          <a:off x="5343452" y="1257216"/>
          <a:ext cx="2341364" cy="11706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/>
            <a:t>Collect &amp; validate data</a:t>
          </a:r>
        </a:p>
      </dsp:txBody>
      <dsp:txXfrm>
        <a:off x="5400600" y="1314364"/>
        <a:ext cx="2227068" cy="1056386"/>
      </dsp:txXfrm>
    </dsp:sp>
    <dsp:sp modelId="{6C5FAFAB-EAF0-4E3A-8B0A-9D5D026B6FEF}">
      <dsp:nvSpPr>
        <dsp:cNvPr id="0" name=""/>
        <dsp:cNvSpPr/>
      </dsp:nvSpPr>
      <dsp:spPr>
        <a:xfrm>
          <a:off x="4087117" y="2513551"/>
          <a:ext cx="2341364" cy="11706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/>
            <a:t>Analyze</a:t>
          </a:r>
        </a:p>
      </dsp:txBody>
      <dsp:txXfrm>
        <a:off x="4144265" y="2570699"/>
        <a:ext cx="2227068" cy="1056386"/>
      </dsp:txXfrm>
    </dsp:sp>
    <dsp:sp modelId="{0D65F03E-7F45-4A39-BFD9-1CB9A5771BE0}">
      <dsp:nvSpPr>
        <dsp:cNvPr id="0" name=""/>
        <dsp:cNvSpPr/>
      </dsp:nvSpPr>
      <dsp:spPr>
        <a:xfrm>
          <a:off x="2830783" y="1257216"/>
          <a:ext cx="2341364" cy="11706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600" kern="1200"/>
            <a:t>Interpret &amp; communicate</a:t>
          </a:r>
        </a:p>
      </dsp:txBody>
      <dsp:txXfrm>
        <a:off x="2887931" y="1314364"/>
        <a:ext cx="2227068" cy="10563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85FE6-8FBD-412B-BC6C-9297F27D3A29}">
      <dsp:nvSpPr>
        <dsp:cNvPr id="0" name=""/>
        <dsp:cNvSpPr/>
      </dsp:nvSpPr>
      <dsp:spPr>
        <a:xfrm rot="5400000">
          <a:off x="6724070" y="-2829603"/>
          <a:ext cx="85307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0" i="0" kern="1200"/>
            <a:t>Labels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0" i="0" kern="1200"/>
            <a:t>e.g. region, product type, browser</a:t>
          </a:r>
          <a:endParaRPr lang="en-US" sz="1700" kern="1200"/>
        </a:p>
      </dsp:txBody>
      <dsp:txXfrm rot="-5400000">
        <a:off x="3785615" y="150496"/>
        <a:ext cx="6688340" cy="769786"/>
      </dsp:txXfrm>
    </dsp:sp>
    <dsp:sp modelId="{F4DDC91C-61A0-405D-8512-82F58503FFAC}">
      <dsp:nvSpPr>
        <dsp:cNvPr id="0" name=""/>
        <dsp:cNvSpPr/>
      </dsp:nvSpPr>
      <dsp:spPr>
        <a:xfrm>
          <a:off x="0" y="2217"/>
          <a:ext cx="3785616" cy="10663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06680" rIns="213360" bIns="10668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600" b="1" i="0" kern="1200"/>
            <a:t>Nominal</a:t>
          </a:r>
          <a:endParaRPr lang="en-US" sz="5600" kern="1200" dirty="0"/>
        </a:p>
      </dsp:txBody>
      <dsp:txXfrm>
        <a:off x="52055" y="54272"/>
        <a:ext cx="3681506" cy="962233"/>
      </dsp:txXfrm>
    </dsp:sp>
    <dsp:sp modelId="{D7421785-1AC8-4079-B59D-41EFEC8AD2D5}">
      <dsp:nvSpPr>
        <dsp:cNvPr id="0" name=""/>
        <dsp:cNvSpPr/>
      </dsp:nvSpPr>
      <dsp:spPr>
        <a:xfrm rot="5400000">
          <a:off x="6724070" y="-1709942"/>
          <a:ext cx="85307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0" i="0" kern="1200"/>
            <a:t>Ranked order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0" i="0" kern="1200"/>
            <a:t>e.g. satisfaction level, priority</a:t>
          </a:r>
          <a:endParaRPr lang="en-US" sz="1700" kern="1200"/>
        </a:p>
      </dsp:txBody>
      <dsp:txXfrm rot="-5400000">
        <a:off x="3785615" y="1270157"/>
        <a:ext cx="6688340" cy="769786"/>
      </dsp:txXfrm>
    </dsp:sp>
    <dsp:sp modelId="{6DF7B414-A09E-492D-8AD4-4B04CB4008DF}">
      <dsp:nvSpPr>
        <dsp:cNvPr id="0" name=""/>
        <dsp:cNvSpPr/>
      </dsp:nvSpPr>
      <dsp:spPr>
        <a:xfrm>
          <a:off x="0" y="1121877"/>
          <a:ext cx="3785616" cy="10663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06680" rIns="213360" bIns="10668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600" b="1" i="0" kern="1200"/>
            <a:t>Ordinal</a:t>
          </a:r>
          <a:endParaRPr lang="en-US" sz="5600" kern="1200"/>
        </a:p>
      </dsp:txBody>
      <dsp:txXfrm>
        <a:off x="52055" y="1173932"/>
        <a:ext cx="3681506" cy="962233"/>
      </dsp:txXfrm>
    </dsp:sp>
    <dsp:sp modelId="{F1E63A0A-A9A5-4933-B2A0-1E3542096D0F}">
      <dsp:nvSpPr>
        <dsp:cNvPr id="0" name=""/>
        <dsp:cNvSpPr/>
      </dsp:nvSpPr>
      <dsp:spPr>
        <a:xfrm rot="5400000">
          <a:off x="6724070" y="-590281"/>
          <a:ext cx="85307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/>
            <a:t>Equal spacing between values, but zero does not mean “none.”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0" i="0" kern="1200" dirty="0"/>
            <a:t>e.g. temperature, time of day, calendar years</a:t>
          </a:r>
          <a:endParaRPr lang="en-US" sz="1700" kern="1200" dirty="0"/>
        </a:p>
      </dsp:txBody>
      <dsp:txXfrm rot="-5400000">
        <a:off x="3785615" y="2389818"/>
        <a:ext cx="6688340" cy="769786"/>
      </dsp:txXfrm>
    </dsp:sp>
    <dsp:sp modelId="{823D96A6-5E4C-4D90-B73E-D7E876B0EAE3}">
      <dsp:nvSpPr>
        <dsp:cNvPr id="0" name=""/>
        <dsp:cNvSpPr/>
      </dsp:nvSpPr>
      <dsp:spPr>
        <a:xfrm>
          <a:off x="0" y="2241538"/>
          <a:ext cx="3785616" cy="10663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06680" rIns="213360" bIns="10668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600" b="1" i="0" kern="1200"/>
            <a:t>Interval</a:t>
          </a:r>
          <a:endParaRPr lang="en-US" sz="5600" kern="1200"/>
        </a:p>
      </dsp:txBody>
      <dsp:txXfrm>
        <a:off x="52055" y="2293593"/>
        <a:ext cx="3681506" cy="962233"/>
      </dsp:txXfrm>
    </dsp:sp>
    <dsp:sp modelId="{2B2166ED-2F0E-4139-8E8B-70BA91833ACF}">
      <dsp:nvSpPr>
        <dsp:cNvPr id="0" name=""/>
        <dsp:cNvSpPr/>
      </dsp:nvSpPr>
      <dsp:spPr>
        <a:xfrm rot="5400000">
          <a:off x="6724070" y="529379"/>
          <a:ext cx="85307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0" i="0" kern="1200"/>
            <a:t>“Regular” numbers with true zero.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0" i="0" kern="1200"/>
            <a:t>e.g. revenue, time spent on a task, file size</a:t>
          </a:r>
          <a:endParaRPr lang="en-US" sz="1700" kern="1200"/>
        </a:p>
      </dsp:txBody>
      <dsp:txXfrm rot="-5400000">
        <a:off x="3785615" y="3509478"/>
        <a:ext cx="6688340" cy="769786"/>
      </dsp:txXfrm>
    </dsp:sp>
    <dsp:sp modelId="{E01F4DE7-46D2-49CC-869F-3D82C9549FE8}">
      <dsp:nvSpPr>
        <dsp:cNvPr id="0" name=""/>
        <dsp:cNvSpPr/>
      </dsp:nvSpPr>
      <dsp:spPr>
        <a:xfrm>
          <a:off x="0" y="3361199"/>
          <a:ext cx="3785616" cy="106634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06680" rIns="213360" bIns="10668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600" b="1" i="0" kern="1200"/>
            <a:t>Ratio</a:t>
          </a:r>
          <a:endParaRPr lang="en-US" sz="5600" kern="1200"/>
        </a:p>
      </dsp:txBody>
      <dsp:txXfrm>
        <a:off x="52055" y="3413254"/>
        <a:ext cx="3681506" cy="962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1020C-BDD9-4383-8568-46AA911A1E40}" type="datetimeFigureOut">
              <a:rPr lang="en-CA" smtClean="0"/>
              <a:t>2026-09-10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D188D-A1AF-4B28-8A4B-76A9687D2A1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4450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188D-A1AF-4B28-8A4B-76A9687D2A1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6119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/ Define the question</a:t>
            </a:r>
            <a:b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Clarify the problem, goal, stakeholder need, or decision to support.</a:t>
            </a:r>
          </a:p>
          <a:p>
            <a:pPr fontAlgn="t"/>
            <a:endParaRPr lang="en-CA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 / Acquire data</a:t>
            </a:r>
            <a:b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Identify, gather, or access relevant data sources.</a:t>
            </a:r>
          </a:p>
          <a:p>
            <a:pPr fontAlgn="t"/>
            <a:r>
              <a:rPr lang="en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 / Clean data</a:t>
            </a:r>
            <a:b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 missing values, inconsistent labels, formatting issues, duplicates, and data quality problems.</a:t>
            </a:r>
          </a:p>
          <a:p>
            <a:pPr fontAlgn="t"/>
            <a:endParaRPr lang="en-CA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Explore / Analyze data</a:t>
            </a:r>
            <a:b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Summarize, visualize, calculate statistics, and look for patterns or relationships.</a:t>
            </a:r>
          </a:p>
          <a:p>
            <a:pPr fontAlgn="t"/>
            <a:endParaRPr lang="en-CA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 / Communicate findings</a:t>
            </a:r>
            <a:b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what the results mean in context, including limitations.</a:t>
            </a:r>
          </a:p>
          <a:p>
            <a:pPr fontAlgn="t"/>
            <a:r>
              <a:rPr lang="en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 / Decide / Implement</a:t>
            </a:r>
            <a:b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the findings to make a decision, recommendation, change, or next step.</a:t>
            </a:r>
          </a:p>
          <a:p>
            <a:pPr fontAlgn="t"/>
            <a:endParaRPr lang="en-CA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CA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 / Iterate</a:t>
            </a:r>
            <a:b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whether the result answered the question and loop back if new questions, data issues, or limitations appear.</a:t>
            </a:r>
          </a:p>
          <a:p>
            <a:endParaRPr lang="en-CA"/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188D-A1AF-4B28-8A4B-76A9687D2A17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9935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/ Define the question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Clarify the problem, goal, stakeholder need, or decision to support.</a:t>
            </a:r>
          </a:p>
          <a:p>
            <a:pPr fontAlgn="t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 / Acquire data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Identify, gather, or access relevant data sources.</a:t>
            </a:r>
          </a:p>
          <a:p>
            <a:pPr fontAlgn="t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 / Clean data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 missing values, inconsistent labels, formatting issues, duplicates, and data quality problems.</a:t>
            </a:r>
          </a:p>
          <a:p>
            <a:pPr fontAlgn="t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Explore / Analyze data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Summarize, visualize, calculate statistics, and look for patterns or relationships.</a:t>
            </a:r>
          </a:p>
          <a:p>
            <a:pPr fontAlgn="t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 / Communicate findings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what the results mean in context, including limitations.</a:t>
            </a:r>
          </a:p>
          <a:p>
            <a:pPr fontAlgn="t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 / Decide / Implement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the findings to make a decision, recommendation, change, or next step.</a:t>
            </a:r>
          </a:p>
          <a:p>
            <a:pPr fontAlgn="t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 / Iterate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whether the result answered the question and loop back if new questions, data issues, or limitations appear.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188D-A1AF-4B28-8A4B-76A9687D2A17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9935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Hint: think about audience and time periods</a:t>
            </a:r>
          </a:p>
          <a:p>
            <a:endParaRPr lang="en-CA"/>
          </a:p>
          <a:p>
            <a:r>
              <a:rPr lang="en-CA" dirty="0"/>
              <a:t>Sample improvements:</a:t>
            </a:r>
          </a:p>
          <a:p>
            <a:endParaRPr lang="en-CA" dirty="0"/>
          </a:p>
          <a:p>
            <a:pPr lvl="0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has average customer satisfaction score changed over the last 6 months for repeat customers compared to first-time customers?”</a:t>
            </a:r>
          </a:p>
          <a:p>
            <a:pPr lvl="0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percentage of active users complete at least one core action per session, and has that changed since the last feature release?”</a:t>
            </a:r>
          </a:p>
          <a:p>
            <a:pPr lvl="0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did weekly online sales revenue change after the pricing update compared to the four weeks prior?”</a:t>
            </a:r>
          </a:p>
          <a:p>
            <a:pPr lvl="0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does the conversion rate from landing page visit to sign-up differ between paid ads and organic traffic?”</a:t>
            </a:r>
          </a:p>
          <a:p>
            <a:pPr lvl="0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has average task completion time per employee changed since the new workflow tool was introduced?”</a:t>
            </a:r>
          </a:p>
          <a:p>
            <a:pPr lvl="0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proportion of customers who churned in the last quarter contacted support more than twice in their final month?”</a:t>
            </a:r>
          </a:p>
          <a:p>
            <a:pPr lvl="0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 percentage of first-term students log into the platform at least once per week during the first month of classes?”</a:t>
            </a:r>
          </a:p>
          <a:p>
            <a:pPr lvl="0"/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b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did click-through rate and sign-up rate change during the campaign compared to the previous month?”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8987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Sample Scenario:</a:t>
            </a:r>
          </a:p>
          <a:p>
            <a:r>
              <a:rPr lang="en-CA" dirty="0"/>
              <a:t>"Can we predict which students are at risk of failing a course?“</a:t>
            </a: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188D-A1AF-4B28-8A4B-76A9687D2A17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218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Think: what can I do with these data?</a:t>
            </a:r>
          </a:p>
          <a:p>
            <a:endParaRPr lang="en-CA" dirty="0"/>
          </a:p>
          <a:p>
            <a:r>
              <a:rPr lang="en-CA" dirty="0"/>
              <a:t>Sample example: </a:t>
            </a:r>
          </a:p>
          <a:p>
            <a:pPr marL="171450" indent="-171450">
              <a:buFontTx/>
              <a:buChar char="-"/>
            </a:pPr>
            <a:r>
              <a:rPr lang="en-CA" dirty="0"/>
              <a:t>Favourite pizza toppings (can we calculate average?)</a:t>
            </a:r>
          </a:p>
          <a:p>
            <a:pPr marL="171450" indent="-171450">
              <a:buFontTx/>
              <a:buChar char="-"/>
            </a:pPr>
            <a:r>
              <a:rPr lang="en-CA" dirty="0"/>
              <a:t># of slices eaten </a:t>
            </a:r>
          </a:p>
          <a:p>
            <a:pPr marL="171450" indent="-171450">
              <a:buFontTx/>
              <a:buChar char="-"/>
            </a:pPr>
            <a:r>
              <a:rPr lang="en-CA" dirty="0"/>
              <a:t>Spiciness (does the difference between them matter?)</a:t>
            </a:r>
          </a:p>
          <a:p>
            <a:pPr marL="171450" indent="-171450">
              <a:buFontTx/>
              <a:buChar char="-"/>
            </a:pPr>
            <a:r>
              <a:rPr lang="en-CA" dirty="0"/>
              <a:t>Restaurant type</a:t>
            </a:r>
          </a:p>
          <a:p>
            <a:pPr marL="171450" indent="-171450">
              <a:buFontTx/>
              <a:buChar char="-"/>
            </a:pPr>
            <a:r>
              <a:rPr lang="en-CA" dirty="0"/>
              <a:t>Bill amount</a:t>
            </a:r>
          </a:p>
          <a:p>
            <a:pPr marL="171450" indent="-171450">
              <a:buFontTx/>
              <a:buChar char="-"/>
            </a:pPr>
            <a:r>
              <a:rPr lang="en-CA" dirty="0"/>
              <a:t>Rating</a:t>
            </a:r>
          </a:p>
          <a:p>
            <a:pPr marL="171450" indent="-171450">
              <a:buFontTx/>
              <a:buChar char="-"/>
            </a:pPr>
            <a:endParaRPr lang="en-CA" dirty="0"/>
          </a:p>
          <a:p>
            <a:pPr marL="171450" indent="-171450">
              <a:buFontTx/>
              <a:buChar char="-"/>
            </a:pPr>
            <a:endParaRPr lang="en-CA" dirty="0"/>
          </a:p>
          <a:p>
            <a:pPr marL="0" indent="0">
              <a:buFontTx/>
              <a:buNone/>
            </a:pPr>
            <a:r>
              <a:rPr lang="en-CA" dirty="0"/>
              <a:t>Back to student example:</a:t>
            </a:r>
          </a:p>
          <a:p>
            <a:pPr marL="171450" indent="-171450">
              <a:buFontTx/>
              <a:buChar char="-"/>
            </a:pPr>
            <a:r>
              <a:rPr lang="en-CA" dirty="0"/>
              <a:t>GPA?</a:t>
            </a:r>
          </a:p>
          <a:p>
            <a:pPr marL="171450" indent="-171450">
              <a:buFontTx/>
              <a:buChar char="-"/>
            </a:pPr>
            <a:r>
              <a:rPr lang="en-CA" dirty="0"/>
              <a:t>Letter grade?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188D-A1AF-4B28-8A4B-76A9687D2A17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3210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Think: how much information does this number give us?</a:t>
            </a:r>
          </a:p>
          <a:p>
            <a:endParaRPr lang="en-CA" dirty="0"/>
          </a:p>
          <a:p>
            <a:r>
              <a:rPr lang="en-CA" dirty="0"/>
              <a:t>Interval: can compare, add, subtract, but not divide/multiply.</a:t>
            </a:r>
          </a:p>
          <a:p>
            <a:endParaRPr lang="en-CA" dirty="0"/>
          </a:p>
          <a:p>
            <a:r>
              <a:rPr lang="en-CA" dirty="0"/>
              <a:t>Test:</a:t>
            </a:r>
          </a:p>
          <a:p>
            <a:r>
              <a:rPr lang="en-CA" dirty="0"/>
              <a:t>Eye colour</a:t>
            </a:r>
          </a:p>
          <a:p>
            <a:r>
              <a:rPr lang="en-CA" dirty="0"/>
              <a:t>Customer satisfaction (out of 5 stars)</a:t>
            </a:r>
          </a:p>
          <a:p>
            <a:r>
              <a:rPr lang="en-CA" dirty="0"/>
              <a:t>Temp in Celsius</a:t>
            </a:r>
          </a:p>
          <a:p>
            <a:r>
              <a:rPr lang="en-CA" dirty="0"/>
              <a:t>Temp in Kelvin</a:t>
            </a:r>
          </a:p>
          <a:p>
            <a:r>
              <a:rPr lang="en-CA" dirty="0"/>
              <a:t>Height</a:t>
            </a:r>
          </a:p>
          <a:p>
            <a:r>
              <a:rPr lang="en-CA" dirty="0"/>
              <a:t>Race finishing position (e.g. 3</a:t>
            </a:r>
            <a:r>
              <a:rPr lang="en-CA" baseline="30000" dirty="0"/>
              <a:t>rd</a:t>
            </a:r>
            <a:r>
              <a:rPr lang="en-CA" dirty="0"/>
              <a:t>)</a:t>
            </a:r>
          </a:p>
          <a:p>
            <a:r>
              <a:rPr lang="en-CA" dirty="0"/>
              <a:t>Postal code</a:t>
            </a:r>
          </a:p>
          <a:p>
            <a:r>
              <a:rPr lang="en-CA" dirty="0"/>
              <a:t># of siblings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930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0E26-6302-1D32-42D3-C064F356F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38AFD-B97F-F6C4-B14B-EA0DD04F1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8BE61-139D-31DF-6ACC-44922D91F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parameter is a number describing a whole population (e.g., population mean), while a statistic is a number describing a sample (e.g., sample mean).</a:t>
            </a:r>
            <a:endParaRPr lang="en-US" dirty="0"/>
          </a:p>
          <a:p>
            <a:endParaRPr lang="en-US" dirty="0"/>
          </a:p>
          <a:p>
            <a:r>
              <a:rPr lang="en-US" dirty="0"/>
              <a:t>e.g. </a:t>
            </a:r>
          </a:p>
          <a:p>
            <a:r>
              <a:rPr lang="en-US" dirty="0"/>
              <a:t>Poll just our the class “how many hours do you spend on your phone?”</a:t>
            </a:r>
          </a:p>
          <a:p>
            <a:r>
              <a:rPr lang="en-US" dirty="0"/>
              <a:t>We have:</a:t>
            </a:r>
          </a:p>
          <a:p>
            <a:r>
              <a:rPr lang="en-US" dirty="0"/>
              <a:t>- average number of hours students IN THIS CLASS spend on their phone </a:t>
            </a:r>
            <a:r>
              <a:rPr lang="en-US" dirty="0">
                <a:sym typeface="Wingdings" panose="05000000000000000000" pitchFamily="2" charset="2"/>
              </a:rPr>
              <a:t> population</a:t>
            </a:r>
          </a:p>
          <a:p>
            <a:r>
              <a:rPr lang="en-US" dirty="0">
                <a:sym typeface="Wingdings" panose="05000000000000000000" pitchFamily="2" charset="2"/>
              </a:rPr>
              <a:t>- Average number of hours students AT NAIT spend on their phone  sample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A1613-CC61-506E-5876-249579C26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7D188D-A1AF-4B28-8A4B-76A9687D2A17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2012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2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2" y="4376058"/>
            <a:ext cx="10606097" cy="113483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66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2" indent="0" algn="ctr">
              <a:buNone/>
              <a:defRPr sz="1600"/>
            </a:lvl5pPr>
            <a:lvl6pPr marL="2285828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5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686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30" y="679939"/>
            <a:ext cx="1847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133326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016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8259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2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6714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272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70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11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98320"/>
            <a:ext cx="10515600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9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46CE7D5-CF57-46EF-B807-FDD0502418D4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23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2" indent="-228582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48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14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080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46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12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2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8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D1E06-127A-E6F3-7186-40B633E29F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SDEV2501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BEF5F-7E93-2148-4677-39D90A7E47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Day 02 - Data Science Lifecycle &amp; Terms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7643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026F7-7A6B-DDB6-B5FF-E4291577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Today’s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CD4E-4943-2564-C297-74BE69BC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Identify stages in a typical data science lifecycle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92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1D06-95B0-78AF-9119-DD711465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C7257-572E-57FF-5180-033C0FCAC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Phases of the Data Science Lifecycle</a:t>
            </a:r>
          </a:p>
          <a:p>
            <a:r>
              <a:rPr lang="en-US"/>
              <a:t>Data Types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130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3F57D-4E12-9CA5-26A1-AFF73D5D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C5B37B-4ADD-C689-43E1-6975E805C7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34414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F2D096-A017-60DD-15BB-47D51C29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Housekeeping reminders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DEC95-7B23-A802-57EF-EF39442A7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/>
              <a:t>Attend</a:t>
            </a:r>
            <a:r>
              <a:rPr lang="en-CA"/>
              <a:t> class &amp; ask </a:t>
            </a:r>
            <a:r>
              <a:rPr lang="en-CA" b="1"/>
              <a:t>questions</a:t>
            </a:r>
            <a:r>
              <a:rPr lang="en-CA"/>
              <a:t>!</a:t>
            </a:r>
          </a:p>
          <a:p>
            <a:r>
              <a:rPr lang="en-CA"/>
              <a:t>Request </a:t>
            </a:r>
            <a:r>
              <a:rPr lang="en-CA" b="1"/>
              <a:t>extensions</a:t>
            </a:r>
            <a:r>
              <a:rPr lang="en-CA"/>
              <a:t> 10 days in advance where possible.</a:t>
            </a:r>
          </a:p>
          <a:p>
            <a:r>
              <a:rPr lang="en-CA"/>
              <a:t>Access NAIT </a:t>
            </a:r>
            <a:r>
              <a:rPr lang="en-CA" b="1"/>
              <a:t>resources</a:t>
            </a:r>
            <a:r>
              <a:rPr lang="en-CA"/>
              <a:t> to support your learning &amp; wellbeing.</a:t>
            </a:r>
          </a:p>
        </p:txBody>
      </p:sp>
    </p:spTree>
    <p:extLst>
      <p:ext uri="{BB962C8B-B14F-4D97-AF65-F5344CB8AC3E}">
        <p14:creationId xmlns:p14="http://schemas.microsoft.com/office/powerpoint/2010/main" val="515522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96CF-C2F8-477B-2524-E93D4437C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Day 1 check-out ticket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1D9F9-2B26-DD17-E140-3108100D7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What are we looking forward to?</a:t>
            </a:r>
          </a:p>
          <a:p>
            <a:r>
              <a:rPr lang="en-CA"/>
              <a:t>What are we nervous about?</a:t>
            </a:r>
          </a:p>
          <a:p>
            <a:r>
              <a:rPr lang="en-CA"/>
              <a:t>Questions &amp; requests</a:t>
            </a:r>
          </a:p>
        </p:txBody>
      </p:sp>
    </p:spTree>
    <p:extLst>
      <p:ext uri="{BB962C8B-B14F-4D97-AF65-F5344CB8AC3E}">
        <p14:creationId xmlns:p14="http://schemas.microsoft.com/office/powerpoint/2010/main" val="6191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7273-7B53-6994-3F82-94E4A84BE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CD7E-C2BF-8D49-E20D-A9DD723C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 to Data Science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26B47-1D70-5DF8-92CC-60918EF5E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data science?</a:t>
            </a:r>
          </a:p>
          <a:p>
            <a:r>
              <a:rPr lang="en-US"/>
              <a:t>What is data analytics?</a:t>
            </a:r>
          </a:p>
          <a:p>
            <a:r>
              <a:rPr lang="en-US"/>
              <a:t>What is data visualization?</a:t>
            </a:r>
          </a:p>
          <a:p>
            <a:pPr marL="0" indent="0">
              <a:buNone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623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B9D7AF-0687-6135-23C2-B6B9A11FB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Data Science Lifecycle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4296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0856A-F947-D80A-6784-EA61F1DD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 Analysis vs BI vs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C46F0-3CED-624C-D286-9AA30D651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Same data (&amp; tools): different jobs.</a:t>
            </a:r>
          </a:p>
          <a:p>
            <a:pPr lvl="1"/>
            <a:r>
              <a:rPr lang="en-CA" b="1"/>
              <a:t>Data Analysis </a:t>
            </a:r>
            <a:r>
              <a:rPr lang="en-CA"/>
              <a:t>seeks to answer specific </a:t>
            </a:r>
            <a:r>
              <a:rPr lang="en-CA" b="1"/>
              <a:t>questions</a:t>
            </a:r>
            <a:r>
              <a:rPr lang="en-CA"/>
              <a:t>.</a:t>
            </a:r>
          </a:p>
          <a:p>
            <a:pPr lvl="1"/>
            <a:r>
              <a:rPr lang="en-CA" b="1"/>
              <a:t>Business Intelligence </a:t>
            </a:r>
            <a:r>
              <a:rPr lang="en-CA"/>
              <a:t>monitors </a:t>
            </a:r>
            <a:r>
              <a:rPr lang="en-CA" b="1"/>
              <a:t>performance</a:t>
            </a:r>
          </a:p>
          <a:p>
            <a:pPr lvl="1"/>
            <a:r>
              <a:rPr lang="en-CA" b="1"/>
              <a:t>Data Science </a:t>
            </a:r>
            <a:r>
              <a:rPr lang="en-CA"/>
              <a:t>builds predictive </a:t>
            </a:r>
            <a:r>
              <a:rPr lang="en-CA" b="1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3421801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585D-9397-9791-E4C6-8F737919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2B1D8-29BD-68BB-67E7-9FFFC005C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Turning a </a:t>
            </a:r>
            <a:r>
              <a:rPr lang="en-CA" b="1"/>
              <a:t>business problem </a:t>
            </a:r>
            <a:r>
              <a:rPr lang="en-CA"/>
              <a:t>into an </a:t>
            </a:r>
            <a:r>
              <a:rPr lang="en-CA" b="1"/>
              <a:t>answerable question</a:t>
            </a:r>
          </a:p>
          <a:p>
            <a:pPr lvl="1"/>
            <a:r>
              <a:rPr lang="en-CA"/>
              <a:t>Clarity &gt; cleverness</a:t>
            </a:r>
          </a:p>
          <a:p>
            <a:r>
              <a:rPr lang="en-CA"/>
              <a:t>Systemic use of available </a:t>
            </a:r>
            <a:r>
              <a:rPr lang="en-CA" b="1"/>
              <a:t>data</a:t>
            </a:r>
            <a:r>
              <a:rPr lang="en-CA"/>
              <a:t> to answer a question.</a:t>
            </a:r>
          </a:p>
          <a:p>
            <a:pPr lvl="1"/>
            <a:r>
              <a:rPr lang="en-CA"/>
              <a:t>Without data: it’s philosophical.</a:t>
            </a:r>
          </a:p>
          <a:p>
            <a:r>
              <a:rPr lang="en-CA"/>
              <a:t>These data should support </a:t>
            </a:r>
            <a:r>
              <a:rPr lang="en-CA" b="1"/>
              <a:t>decision-making</a:t>
            </a:r>
            <a:r>
              <a:rPr lang="en-CA"/>
              <a:t>.</a:t>
            </a:r>
          </a:p>
          <a:p>
            <a:pPr lvl="1"/>
            <a:r>
              <a:rPr lang="en-CA"/>
              <a:t>Without a decision, it’s just nice-to-know trivia.</a:t>
            </a:r>
          </a:p>
        </p:txBody>
      </p:sp>
    </p:spTree>
    <p:extLst>
      <p:ext uri="{BB962C8B-B14F-4D97-AF65-F5344CB8AC3E}">
        <p14:creationId xmlns:p14="http://schemas.microsoft.com/office/powerpoint/2010/main" val="3132241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A6DA-EC0D-DC69-FBFA-AE4FF5FB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262255"/>
            <a:ext cx="10515600" cy="663575"/>
          </a:xfrm>
        </p:spPr>
        <p:txBody>
          <a:bodyPr/>
          <a:lstStyle/>
          <a:p>
            <a:r>
              <a:rPr lang="en-US" dirty="0"/>
              <a:t>What is Data Analytics?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E93EE-3CA6-F545-BE76-58C275DD8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017270"/>
            <a:ext cx="10687050" cy="5314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sz="2400" b="1" dirty="0"/>
              <a:t>Data analytics</a:t>
            </a:r>
            <a:r>
              <a:rPr lang="en-CA" sz="2400" dirty="0"/>
              <a:t> is the process of </a:t>
            </a:r>
            <a:r>
              <a:rPr lang="en-CA" sz="2400" b="1" dirty="0"/>
              <a:t>examining, cleaning, transforming, and interpreting data to discover useful information, identify patterns, and support decision-making</a:t>
            </a:r>
            <a:r>
              <a:rPr lang="en-CA" sz="24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sz="2400" dirty="0"/>
              <a:t>For example, suppose a college has data about student attendance, grades, and course completion. Data analytics could be used to answer questions such as: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What percentage of students successfully complete each course? 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Is attendance related to academic performance? 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Which courses have the highest failure rates? 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Are student results improving from year to year? 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sz="2000" dirty="0"/>
              <a:t>Which students may be at risk of dropping out?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979485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7BF6-DB1F-0E79-1E61-868D88A89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565"/>
          </a:xfrm>
        </p:spPr>
        <p:txBody>
          <a:bodyPr>
            <a:normAutofit fontScale="90000"/>
          </a:bodyPr>
          <a:lstStyle/>
          <a:p>
            <a:r>
              <a:rPr lang="en-US" dirty="0"/>
              <a:t>Main Types of Data Analytics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AF2C3-96A9-0C40-F3E1-441DE900F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" y="1291590"/>
            <a:ext cx="10633710" cy="4903470"/>
          </a:xfrm>
        </p:spPr>
        <p:txBody>
          <a:bodyPr/>
          <a:lstStyle/>
          <a:p>
            <a:r>
              <a:rPr lang="en-US" dirty="0"/>
              <a:t>There are four commonly recognized types of Data Analytics:</a:t>
            </a:r>
          </a:p>
          <a:p>
            <a:endParaRPr lang="en-CA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135720A-3BF1-6DF0-D5C7-48B7BD2F6483}"/>
              </a:ext>
            </a:extLst>
          </p:cNvPr>
          <p:cNvGraphicFramePr>
            <a:graphicFrameLocks noGrp="1"/>
          </p:cNvGraphicFramePr>
          <p:nvPr/>
        </p:nvGraphicFramePr>
        <p:xfrm>
          <a:off x="834390" y="2297430"/>
          <a:ext cx="1051941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9010">
                  <a:extLst>
                    <a:ext uri="{9D8B030D-6E8A-4147-A177-3AD203B41FA5}">
                      <a16:colId xmlns:a16="http://schemas.microsoft.com/office/drawing/2014/main" val="10195516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186866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29113468"/>
                    </a:ext>
                  </a:extLst>
                </a:gridCol>
              </a:tblGrid>
              <a:tr h="395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400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400" b="1" dirty="0"/>
                        <a:t>Main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4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106809"/>
                  </a:ext>
                </a:extLst>
              </a:tr>
              <a:tr h="69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Descriptive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What happened?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/>
                        <a:t>15% of students failed the course last semester.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736977"/>
                  </a:ext>
                </a:extLst>
              </a:tr>
              <a:tr h="69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Diagnostic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Why did it happen?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/>
                        <a:t>Students with low attendance had higher failure rates.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99848"/>
                  </a:ext>
                </a:extLst>
              </a:tr>
              <a:tr h="69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Predictive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What is likely to happen?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Predict which students are at risk of failing.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483413"/>
                  </a:ext>
                </a:extLst>
              </a:tr>
              <a:tr h="692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/>
                        <a:t>Prescriptive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What should we do?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Recommend additional tutoring for particular students.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382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062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5DE5-1AF3-8822-4DBE-A5565FC3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695"/>
          </a:xfrm>
        </p:spPr>
        <p:txBody>
          <a:bodyPr>
            <a:normAutofit fontScale="90000"/>
          </a:bodyPr>
          <a:lstStyle/>
          <a:p>
            <a:r>
              <a:rPr lang="en-US" dirty="0"/>
              <a:t>Data Visualization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CD40F-B462-586B-3C98-92B1821FE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" y="1154430"/>
            <a:ext cx="10679430" cy="521208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sz="2400" b="1" dirty="0"/>
              <a:t>Data visualization</a:t>
            </a:r>
            <a:r>
              <a:rPr lang="en-CA" sz="2400" dirty="0"/>
              <a:t> is the process of </a:t>
            </a:r>
            <a:r>
              <a:rPr lang="en-CA" sz="2400" b="1" dirty="0"/>
              <a:t>representing data graphically</a:t>
            </a:r>
            <a:r>
              <a:rPr lang="en-CA" sz="2400" dirty="0"/>
              <a:t> using charts, graphs, maps, dashboards, and other visual elements so that information is easier to understand.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sz="2400" dirty="0"/>
              <a:t>Instead of looking at a large table of numbers, we can visualize the data to quickly identify </a:t>
            </a:r>
            <a:r>
              <a:rPr lang="en-CA" sz="2400" b="1" dirty="0"/>
              <a:t>patterns, trends, relationships, comparisons, and unusual values</a:t>
            </a:r>
            <a:r>
              <a:rPr lang="en-CA" sz="2400" dirty="0"/>
              <a:t>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1767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07E3-AEF2-832F-8AC9-380698B7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/>
          <a:lstStyle/>
          <a:p>
            <a:r>
              <a:rPr lang="en-CA" dirty="0"/>
              <a:t>Common types of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C5D21-46A2-03A7-7A8D-B56E39CB4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5063490"/>
          </a:xfrm>
        </p:spPr>
        <p:txBody>
          <a:bodyPr>
            <a:normAutofit/>
          </a:bodyPr>
          <a:lstStyle/>
          <a:p>
            <a:r>
              <a:rPr lang="en-CA" sz="2400" dirty="0"/>
              <a:t>Different visualizations are useful for different purposes:</a:t>
            </a:r>
          </a:p>
          <a:p>
            <a:endParaRPr lang="en-CA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243F10-2560-906D-0120-32968C31A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322728"/>
              </p:ext>
            </p:extLst>
          </p:nvPr>
        </p:nvGraphicFramePr>
        <p:xfrm>
          <a:off x="838200" y="1908810"/>
          <a:ext cx="10515600" cy="33726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54642">
                  <a:extLst>
                    <a:ext uri="{9D8B030D-6E8A-4147-A177-3AD203B41FA5}">
                      <a16:colId xmlns:a16="http://schemas.microsoft.com/office/drawing/2014/main" val="1647539306"/>
                    </a:ext>
                  </a:extLst>
                </a:gridCol>
                <a:gridCol w="6460958">
                  <a:extLst>
                    <a:ext uri="{9D8B030D-6E8A-4147-A177-3AD203B41FA5}">
                      <a16:colId xmlns:a16="http://schemas.microsoft.com/office/drawing/2014/main" val="1640158073"/>
                    </a:ext>
                  </a:extLst>
                </a:gridCol>
              </a:tblGrid>
              <a:tr h="4818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400" b="1" dirty="0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400" b="1" dirty="0"/>
                        <a:t>Useful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031491"/>
                  </a:ext>
                </a:extLst>
              </a:tr>
              <a:tr h="481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Bar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/>
                        <a:t>Comparing different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294409"/>
                  </a:ext>
                </a:extLst>
              </a:tr>
              <a:tr h="481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Line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/>
                        <a:t>Showing changes or trends over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018965"/>
                  </a:ext>
                </a:extLst>
              </a:tr>
              <a:tr h="481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Pie chart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/>
                        <a:t>Showing proportions of a whole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58599"/>
                  </a:ext>
                </a:extLst>
              </a:tr>
              <a:tr h="481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/>
                        <a:t>Histogram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Showing the distribution of numerical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707675"/>
                  </a:ext>
                </a:extLst>
              </a:tr>
              <a:tr h="481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/>
                        <a:t>Scatter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Showing relationships between two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669332"/>
                  </a:ext>
                </a:extLst>
              </a:tr>
              <a:tr h="481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/>
                        <a:t>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 dirty="0"/>
                        <a:t>Showing geographical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335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106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E3F0-3A50-1422-9B51-44EA62F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Data Science?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33235-11E2-1866-ECB7-F20BCF1DB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230" y="1051560"/>
            <a:ext cx="10984230" cy="49491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sz="2400" b="1" dirty="0">
                <a:latin typeface="Arial"/>
                <a:cs typeface="Arial"/>
              </a:rPr>
              <a:t>Data science</a:t>
            </a:r>
            <a:r>
              <a:rPr lang="en-CA" sz="2400" dirty="0">
                <a:latin typeface="Arial"/>
                <a:cs typeface="Arial"/>
              </a:rPr>
              <a:t> is the scrutinizing and processing of raw data to extract useful insights, solve problems, and support decision-making. </a:t>
            </a:r>
            <a:endParaRPr lang="en-US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sz="2000" dirty="0"/>
              <a:t>It is multidisciplinary, combining statistics, mathematics, programming, and domain knowledge to analyze large amounts of data.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074777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4A73-83F1-E899-FBA3-7AA4BE960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91"/>
            <a:ext cx="10515600" cy="777240"/>
          </a:xfrm>
        </p:spPr>
        <p:txBody>
          <a:bodyPr>
            <a:normAutofit/>
          </a:bodyPr>
          <a:lstStyle/>
          <a:p>
            <a:r>
              <a:rPr lang="en-CA" dirty="0"/>
              <a:t>What does a data scientist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ED648-4478-73C9-4B75-28714A6F2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170"/>
            <a:ext cx="10515600" cy="49149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dirty="0"/>
              <a:t>A data scientist typically: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b="1" dirty="0"/>
              <a:t>Collects</a:t>
            </a:r>
            <a:r>
              <a:rPr lang="en-CA" dirty="0"/>
              <a:t> data from various sources.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b="1" dirty="0"/>
              <a:t>Cleans</a:t>
            </a:r>
            <a:r>
              <a:rPr lang="en-CA" dirty="0"/>
              <a:t> and </a:t>
            </a:r>
            <a:r>
              <a:rPr lang="en-CA" b="1" dirty="0"/>
              <a:t>organizes</a:t>
            </a:r>
            <a:r>
              <a:rPr lang="en-CA" dirty="0"/>
              <a:t> the data.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b="1" dirty="0"/>
              <a:t>Analyzes</a:t>
            </a:r>
            <a:r>
              <a:rPr lang="en-CA" dirty="0"/>
              <a:t> the data to identify patterns and trends.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dirty="0"/>
              <a:t>Builds </a:t>
            </a:r>
            <a:r>
              <a:rPr lang="en-CA" b="1" dirty="0"/>
              <a:t>predictive</a:t>
            </a:r>
            <a:r>
              <a:rPr lang="en-CA" dirty="0"/>
              <a:t> </a:t>
            </a:r>
            <a:r>
              <a:rPr lang="en-CA" b="1" dirty="0"/>
              <a:t>models</a:t>
            </a:r>
            <a:r>
              <a:rPr lang="en-CA" dirty="0"/>
              <a:t> using machine learning.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b="1" dirty="0"/>
              <a:t>Communicates</a:t>
            </a:r>
            <a:r>
              <a:rPr lang="en-CA" dirty="0"/>
              <a:t> findings through reports and visualizations.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11579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6ED0-08F6-53A1-C923-132560078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720725"/>
          </a:xfrm>
        </p:spPr>
        <p:txBody>
          <a:bodyPr/>
          <a:lstStyle/>
          <a:p>
            <a:r>
              <a:rPr lang="en-CA" dirty="0"/>
              <a:t>Key components of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716AA-5E83-A169-4C52-A1C5DCA69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560"/>
            <a:ext cx="10515600" cy="512064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b="1" dirty="0"/>
              <a:t>The main disciplines involved in data Science are:</a:t>
            </a:r>
          </a:p>
          <a:p>
            <a:pPr marL="892175" lvl="1" indent="-43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Mathematics and Statistics</a:t>
            </a:r>
            <a:r>
              <a:rPr lang="en-CA" dirty="0"/>
              <a:t> – Understanding data and making predictions. </a:t>
            </a:r>
          </a:p>
          <a:p>
            <a:pPr marL="892175" lvl="1" indent="-43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Programming</a:t>
            </a:r>
            <a:r>
              <a:rPr lang="en-CA" dirty="0"/>
              <a:t> – Using languages like </a:t>
            </a:r>
            <a:r>
              <a:rPr lang="en-CA" b="1" dirty="0"/>
              <a:t>Python</a:t>
            </a:r>
            <a:r>
              <a:rPr lang="en-CA" dirty="0"/>
              <a:t>, </a:t>
            </a:r>
            <a:r>
              <a:rPr lang="en-CA" b="1" dirty="0"/>
              <a:t>R</a:t>
            </a:r>
            <a:r>
              <a:rPr lang="en-CA" dirty="0"/>
              <a:t>, or </a:t>
            </a:r>
            <a:r>
              <a:rPr lang="en-CA" b="1" dirty="0"/>
              <a:t>SQL</a:t>
            </a:r>
            <a:r>
              <a:rPr lang="en-CA" dirty="0"/>
              <a:t> to work with data. </a:t>
            </a:r>
          </a:p>
          <a:p>
            <a:pPr marL="892175" lvl="1" indent="-43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Machine Learning</a:t>
            </a:r>
            <a:r>
              <a:rPr lang="en-CA" dirty="0"/>
              <a:t> – Creating models that learn from data and make predictions. </a:t>
            </a:r>
          </a:p>
          <a:p>
            <a:pPr marL="892175" lvl="1" indent="-43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Data Visualization</a:t>
            </a:r>
            <a:r>
              <a:rPr lang="en-CA" dirty="0"/>
              <a:t> – Presenting data using charts and graphs with tools like Tableau, Power BI, or Matplotlib. </a:t>
            </a:r>
          </a:p>
          <a:p>
            <a:pPr marL="892175" lvl="1" indent="-43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Big Data Technologies</a:t>
            </a:r>
            <a:r>
              <a:rPr lang="en-CA" dirty="0"/>
              <a:t> – Managing large datasets using tools such as Hadoop and Spark.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7167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6D0E-A612-10AD-6392-750D807A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0705"/>
          </a:xfrm>
        </p:spPr>
        <p:txBody>
          <a:bodyPr>
            <a:normAutofit fontScale="90000"/>
          </a:bodyPr>
          <a:lstStyle/>
          <a:p>
            <a:r>
              <a:rPr lang="en-CA" dirty="0"/>
              <a:t>Applications of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6A5AB-5439-47CE-58E5-8089A58F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1435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CA" dirty="0"/>
              <a:t>Data science is used in many industries, including: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Healthcare:</a:t>
            </a:r>
            <a:r>
              <a:rPr lang="en-CA" dirty="0"/>
              <a:t> Predicting diseases and improving patient care. 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Finance:</a:t>
            </a:r>
            <a:r>
              <a:rPr lang="en-CA" dirty="0"/>
              <a:t> Detecting fraud and assessing credit risk. 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E-commerce:</a:t>
            </a:r>
            <a:r>
              <a:rPr lang="en-CA" dirty="0"/>
              <a:t> Recommending products to customers. 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Marketing:</a:t>
            </a:r>
            <a:r>
              <a:rPr lang="en-CA" dirty="0"/>
              <a:t> Understanding customer behavior and improving campaigns. </a:t>
            </a:r>
          </a:p>
          <a:p>
            <a:pPr marL="811213" lvl="1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CA" b="1" dirty="0"/>
              <a:t>Transportation:</a:t>
            </a:r>
            <a:r>
              <a:rPr lang="en-CA" dirty="0"/>
              <a:t> Optimizing routes and enabling self-driving technologies.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91336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B9D7AF-0687-6135-23C2-B6B9A11FB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Data Science Lifecycle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379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2E3C-28BB-EECF-9DE7-8A6856100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Stages of the Data </a:t>
            </a:r>
            <a:r>
              <a:rPr lang="en-CA" dirty="0"/>
              <a:t>Analysis</a:t>
            </a:r>
            <a:r>
              <a:rPr lang="en-CA"/>
              <a:t> Lifecycle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D69458-8A02-1632-BCB7-971B1CC409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6685"/>
          <a:ext cx="10515600" cy="3685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3177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2E3C-28BB-EECF-9DE7-8A685610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77876"/>
          </a:xfrm>
        </p:spPr>
        <p:txBody>
          <a:bodyPr/>
          <a:lstStyle/>
          <a:p>
            <a:r>
              <a:rPr lang="en-CA" dirty="0"/>
              <a:t>Stages of the Data Science Lifecycle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D2F87A-0343-B0F6-ED0E-92C2A5B65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4540" y="777876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60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757F-DAB4-A665-B944-BCD4156C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What makes a question effective?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8A58C-D62D-B652-58BE-E32D7A0B7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To answer a question, it needs to be</a:t>
            </a:r>
          </a:p>
          <a:p>
            <a:pPr lvl="1"/>
            <a:r>
              <a:rPr lang="en-CA" b="1"/>
              <a:t>Measurable</a:t>
            </a:r>
          </a:p>
          <a:p>
            <a:pPr lvl="1"/>
            <a:r>
              <a:rPr lang="en-CA" b="1"/>
              <a:t>Actionable</a:t>
            </a:r>
          </a:p>
          <a:p>
            <a:pPr lvl="1"/>
            <a:r>
              <a:rPr lang="en-CA"/>
              <a:t>Aligned with </a:t>
            </a:r>
            <a:r>
              <a:rPr lang="en-CA" b="1"/>
              <a:t>goals</a:t>
            </a:r>
          </a:p>
          <a:p>
            <a:pPr lvl="1"/>
            <a:r>
              <a:rPr lang="en-CA"/>
              <a:t>Supported by available </a:t>
            </a:r>
            <a:r>
              <a:rPr lang="en-CA" b="1"/>
              <a:t>data</a:t>
            </a:r>
          </a:p>
          <a:p>
            <a:pPr lvl="1"/>
            <a:endParaRPr lang="en-CA" b="1"/>
          </a:p>
          <a:p>
            <a:r>
              <a:rPr lang="en-CA"/>
              <a:t>One good question &gt; 5 fuzzy ones.</a:t>
            </a:r>
          </a:p>
        </p:txBody>
      </p:sp>
    </p:spTree>
    <p:extLst>
      <p:ext uri="{BB962C8B-B14F-4D97-AF65-F5344CB8AC3E}">
        <p14:creationId xmlns:p14="http://schemas.microsoft.com/office/powerpoint/2010/main" val="2472562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A129-E256-813A-DBCB-38097F48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Sample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BEEE9-0231-7BED-CF00-C6D84B2D5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/>
              <a:t>Ambiguous scenarios:</a:t>
            </a:r>
          </a:p>
          <a:p>
            <a:pPr lvl="1"/>
            <a:r>
              <a:rPr lang="en-CA"/>
              <a:t>Sales are down.</a:t>
            </a:r>
          </a:p>
          <a:p>
            <a:pPr lvl="1"/>
            <a:r>
              <a:rPr lang="en-CA"/>
              <a:t>Users aren’t engaged.</a:t>
            </a:r>
          </a:p>
          <a:p>
            <a:pPr lvl="1"/>
            <a:r>
              <a:rPr lang="en-CA"/>
              <a:t>Customer satisfaction is low.</a:t>
            </a:r>
          </a:p>
          <a:p>
            <a:pPr lvl="1"/>
            <a:endParaRPr lang="en-CA"/>
          </a:p>
          <a:p>
            <a:r>
              <a:rPr lang="en-CA"/>
              <a:t>Let’s refine:</a:t>
            </a:r>
          </a:p>
          <a:p>
            <a:pPr lvl="1"/>
            <a:r>
              <a:rPr lang="en-CA"/>
              <a:t>What changed?</a:t>
            </a:r>
          </a:p>
          <a:p>
            <a:pPr lvl="1"/>
            <a:r>
              <a:rPr lang="en-CA"/>
              <a:t>Compared to what?</a:t>
            </a:r>
          </a:p>
          <a:p>
            <a:pPr lvl="1"/>
            <a:r>
              <a:rPr lang="en-CA"/>
              <a:t>Over what time period?</a:t>
            </a:r>
          </a:p>
          <a:p>
            <a:pPr lvl="1"/>
            <a:r>
              <a:rPr lang="en-CA"/>
              <a:t>For whom?</a:t>
            </a:r>
          </a:p>
        </p:txBody>
      </p:sp>
    </p:spTree>
    <p:extLst>
      <p:ext uri="{BB962C8B-B14F-4D97-AF65-F5344CB8AC3E}">
        <p14:creationId xmlns:p14="http://schemas.microsoft.com/office/powerpoint/2010/main" val="177982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58F7-2B1D-BDCE-5A2F-E3186AFA5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Peer Refine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30A14-0487-4318-C1CD-CC02B957F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972697" cy="4550683"/>
          </a:xfrm>
        </p:spPr>
        <p:txBody>
          <a:bodyPr/>
          <a:lstStyle/>
          <a:p>
            <a:r>
              <a:rPr lang="en-CA"/>
              <a:t>Does the question:</a:t>
            </a:r>
          </a:p>
          <a:p>
            <a:pPr lvl="1"/>
            <a:r>
              <a:rPr lang="en-CA"/>
              <a:t>Have a metric?</a:t>
            </a:r>
          </a:p>
          <a:p>
            <a:pPr lvl="1"/>
            <a:r>
              <a:rPr lang="en-CA"/>
              <a:t>Support a decision?</a:t>
            </a:r>
          </a:p>
          <a:p>
            <a:pPr lvl="1"/>
            <a:r>
              <a:rPr lang="en-CA"/>
              <a:t>Match the scenario?</a:t>
            </a:r>
          </a:p>
          <a:p>
            <a:pPr marL="457166" lvl="1" indent="0">
              <a:buNone/>
            </a:pPr>
            <a:endParaRPr lang="en-CA"/>
          </a:p>
          <a:p>
            <a:r>
              <a:rPr lang="en-CA"/>
              <a:t>Refine:</a:t>
            </a:r>
          </a:p>
          <a:p>
            <a:pPr lvl="1"/>
            <a:r>
              <a:rPr lang="en-CA"/>
              <a:t>What changed?</a:t>
            </a:r>
          </a:p>
          <a:p>
            <a:pPr lvl="1"/>
            <a:r>
              <a:rPr lang="en-CA"/>
              <a:t>Compared to what?</a:t>
            </a:r>
          </a:p>
          <a:p>
            <a:pPr lvl="1"/>
            <a:r>
              <a:rPr lang="en-CA"/>
              <a:t>Over what time period?</a:t>
            </a:r>
          </a:p>
          <a:p>
            <a:pPr lvl="1"/>
            <a:r>
              <a:rPr lang="en-CA"/>
              <a:t>For whom?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10AD6F-D2B0-5D34-51E2-5543BCACC625}"/>
              </a:ext>
            </a:extLst>
          </p:cNvPr>
          <p:cNvSpPr txBox="1">
            <a:spLocks/>
          </p:cNvSpPr>
          <p:nvPr/>
        </p:nvSpPr>
        <p:spPr>
          <a:xfrm>
            <a:off x="5404021" y="1825625"/>
            <a:ext cx="6787980" cy="3891435"/>
          </a:xfrm>
          <a:prstGeom prst="rect">
            <a:avLst/>
          </a:prstGeom>
        </p:spPr>
        <p:txBody>
          <a:bodyPr vert="horz" lIns="121920" tIns="60960" rIns="121920" bIns="60960" rtlCol="0">
            <a:normAutofit fontScale="92500" lnSpcReduction="10000"/>
          </a:bodyPr>
          <a:lstStyle>
            <a:lvl1pPr marL="171441" indent="-171441" algn="l" defTabSz="68576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24" indent="-171441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07" indent="-171441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090" indent="-171441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2973" indent="-171441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856" indent="-171441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39" indent="-171441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21" indent="-171441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04" indent="-171441" algn="l" defTabSz="68576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585" indent="-609585">
              <a:buFont typeface="+mj-lt"/>
              <a:buAutoNum type="alphaUcPeriod"/>
            </a:pPr>
            <a:r>
              <a:rPr lang="en-CA" sz="2800"/>
              <a:t>Customer satisfaction is low.</a:t>
            </a:r>
          </a:p>
          <a:p>
            <a:pPr marL="609585" indent="-609585">
              <a:buFont typeface="+mj-lt"/>
              <a:buAutoNum type="alphaUcPeriod"/>
            </a:pPr>
            <a:r>
              <a:rPr lang="en-CA" sz="2800"/>
              <a:t>Are users engaged with the app?</a:t>
            </a:r>
          </a:p>
          <a:p>
            <a:pPr marL="609585" indent="-609585">
              <a:buFont typeface="+mj-lt"/>
              <a:buAutoNum type="alphaUcPeriod"/>
            </a:pPr>
            <a:r>
              <a:rPr lang="en-CA" sz="2800"/>
              <a:t>What’s going on with sales?</a:t>
            </a:r>
          </a:p>
          <a:p>
            <a:pPr marL="609585" indent="-609585">
              <a:buFont typeface="+mj-lt"/>
              <a:buAutoNum type="alphaUcPeriod"/>
            </a:pPr>
            <a:r>
              <a:rPr lang="en-CA" sz="2800"/>
              <a:t>How many users visit our website?</a:t>
            </a:r>
          </a:p>
          <a:p>
            <a:pPr marL="609585" indent="-609585">
              <a:buFont typeface="+mj-lt"/>
              <a:buAutoNum type="alphaUcPeriod"/>
            </a:pPr>
            <a:r>
              <a:rPr lang="en-CA" sz="2800"/>
              <a:t>Is employee productivity improving?</a:t>
            </a:r>
          </a:p>
          <a:p>
            <a:pPr marL="609585" indent="-609585">
              <a:buFont typeface="+mj-lt"/>
              <a:buAutoNum type="alphaUcPeriod"/>
            </a:pPr>
            <a:r>
              <a:rPr lang="en-CA" sz="2800"/>
              <a:t>Why are customers leaving?</a:t>
            </a:r>
          </a:p>
          <a:p>
            <a:pPr marL="609585" indent="-609585">
              <a:buFont typeface="+mj-lt"/>
              <a:buAutoNum type="alphaUcPeriod"/>
            </a:pPr>
            <a:r>
              <a:rPr lang="en-CA" sz="2800"/>
              <a:t>Are students using the learning platform?</a:t>
            </a:r>
          </a:p>
          <a:p>
            <a:pPr marL="609585" indent="-609585">
              <a:buFont typeface="+mj-lt"/>
              <a:buAutoNum type="alphaUcPeriod"/>
            </a:pPr>
            <a:r>
              <a:rPr lang="en-CA" sz="2800"/>
              <a:t>Did the campaign perform well?</a:t>
            </a:r>
          </a:p>
        </p:txBody>
      </p:sp>
    </p:spTree>
    <p:extLst>
      <p:ext uri="{BB962C8B-B14F-4D97-AF65-F5344CB8AC3E}">
        <p14:creationId xmlns:p14="http://schemas.microsoft.com/office/powerpoint/2010/main" val="11058337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1B2C-4903-0DB1-E9DD-A4613528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Activity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ABC3F-654E-63BE-82EC-D38AD6A43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tasks happen at each phase of the life cycle?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3066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150F-5A20-30A6-F59E-46364AA8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Types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0DB8E-2229-7401-0F31-12AE2C94B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Categorical</a:t>
            </a:r>
          </a:p>
          <a:p>
            <a:r>
              <a:rPr lang="en-US"/>
              <a:t>Numeric</a:t>
            </a:r>
          </a:p>
          <a:p>
            <a:r>
              <a:rPr lang="en-US"/>
              <a:t>Ordinal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3371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B2DF-E5EC-33D6-B426-58CF96E0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A" dirty="0"/>
              <a:t>Levels of Measurement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6C1775-0B61-B830-16B3-087773F0FB7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52731265"/>
              </p:ext>
            </p:extLst>
          </p:nvPr>
        </p:nvGraphicFramePr>
        <p:xfrm>
          <a:off x="838200" y="1798320"/>
          <a:ext cx="10515600" cy="4429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4733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1115-E169-583B-F7A2-346B0746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810D-7BB2-D258-6B52-8DA6076E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Science Terminology</a:t>
            </a:r>
            <a:endParaRPr lang="en-CA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DECB06F-8ABD-B9BC-3115-349C9C72C8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3162549"/>
              </p:ext>
            </p:extLst>
          </p:nvPr>
        </p:nvGraphicFramePr>
        <p:xfrm>
          <a:off x="838200" y="1825625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87716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1209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1" dirty="0"/>
                        <a:t>Population</a:t>
                      </a:r>
                      <a:r>
                        <a:rPr lang="en-CA" sz="2400" dirty="0"/>
                        <a:t> = </a:t>
                      </a:r>
                      <a:r>
                        <a:rPr lang="en-CA" sz="2400" b="0" dirty="0"/>
                        <a:t>the entire group of people, objects, or observations that we are interested in studying. </a:t>
                      </a:r>
                    </a:p>
                    <a:p>
                      <a:pPr marL="342900" marR="0" lvl="0" indent="-34290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2400" b="0" dirty="0"/>
                        <a:t>e.g. all students at NAIT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Sample</a:t>
                      </a:r>
                      <a:r>
                        <a:rPr lang="en-US" sz="2400" dirty="0"/>
                        <a:t> </a:t>
                      </a:r>
                      <a:r>
                        <a:rPr lang="en-US" sz="2400" b="0" dirty="0"/>
                        <a:t>= </a:t>
                      </a:r>
                      <a:r>
                        <a:rPr lang="en-CA" sz="2400" b="0" dirty="0"/>
                        <a:t>A subset of the population that we actually collect data from. </a:t>
                      </a:r>
                    </a:p>
                    <a:p>
                      <a:pPr marL="342900" marR="0" lvl="0" indent="-34290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2400" b="0" dirty="0"/>
                        <a:t>e.g. 500 randomly selected students</a:t>
                      </a:r>
                      <a:endParaRPr 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4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Parameter</a:t>
                      </a:r>
                      <a:r>
                        <a:rPr lang="en-US" sz="2400" dirty="0"/>
                        <a:t> = </a:t>
                      </a:r>
                      <a:r>
                        <a:rPr lang="en-CA" sz="2400" dirty="0"/>
                        <a:t>A numerical value that describes a characteristic of an entire population. </a:t>
                      </a:r>
                    </a:p>
                    <a:p>
                      <a:pPr marL="342900" marR="0" lvl="0" indent="-34290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2400" dirty="0"/>
                        <a:t>e.g. the average age of all NAIT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1" dirty="0"/>
                        <a:t>Statistic</a:t>
                      </a:r>
                      <a:r>
                        <a:rPr lang="en-CA" sz="2400" dirty="0"/>
                        <a:t> = A numerical value calculated from a sample. </a:t>
                      </a:r>
                    </a:p>
                    <a:p>
                      <a:pPr marL="342900" marR="0" lvl="0" indent="-342900" algn="l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2400" dirty="0"/>
                        <a:t>e.g. the average age of the 500 students we surveyed.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29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024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77421-2784-5185-766E-D477C6EA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FF05D2-870A-CB2E-4F26-EB9C31598D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407612"/>
              </p:ext>
            </p:extLst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768">
                  <a:extLst>
                    <a:ext uri="{9D8B030D-6E8A-4147-A177-3AD203B41FA5}">
                      <a16:colId xmlns:a16="http://schemas.microsoft.com/office/drawing/2014/main" val="2411392803"/>
                    </a:ext>
                  </a:extLst>
                </a:gridCol>
                <a:gridCol w="1283369">
                  <a:extLst>
                    <a:ext uri="{9D8B030D-6E8A-4147-A177-3AD203B41FA5}">
                      <a16:colId xmlns:a16="http://schemas.microsoft.com/office/drawing/2014/main" val="4243462726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719759789"/>
                    </a:ext>
                  </a:extLst>
                </a:gridCol>
                <a:gridCol w="1684421">
                  <a:extLst>
                    <a:ext uri="{9D8B030D-6E8A-4147-A177-3AD203B41FA5}">
                      <a16:colId xmlns:a16="http://schemas.microsoft.com/office/drawing/2014/main" val="781259711"/>
                    </a:ext>
                  </a:extLst>
                </a:gridCol>
                <a:gridCol w="1122948">
                  <a:extLst>
                    <a:ext uri="{9D8B030D-6E8A-4147-A177-3AD203B41FA5}">
                      <a16:colId xmlns:a16="http://schemas.microsoft.com/office/drawing/2014/main" val="1372295849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746755924"/>
                    </a:ext>
                  </a:extLst>
                </a:gridCol>
                <a:gridCol w="1764632">
                  <a:extLst>
                    <a:ext uri="{9D8B030D-6E8A-4147-A177-3AD203B41FA5}">
                      <a16:colId xmlns:a16="http://schemas.microsoft.com/office/drawing/2014/main" val="2896339279"/>
                    </a:ext>
                  </a:extLst>
                </a:gridCol>
                <a:gridCol w="1792705">
                  <a:extLst>
                    <a:ext uri="{9D8B030D-6E8A-4147-A177-3AD203B41FA5}">
                      <a16:colId xmlns:a16="http://schemas.microsoft.com/office/drawing/2014/main" val="19496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Study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GPA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Residence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Assignments 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8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Very satisfied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Edmonton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222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Satisfied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Calgary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42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Edmonton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881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ITBA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Very satisfied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Red Deer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3545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8D7A18-A8A6-B44A-354C-0B313058425D}"/>
              </a:ext>
            </a:extLst>
          </p:cNvPr>
          <p:cNvSpPr txBox="1"/>
          <p:nvPr/>
        </p:nvSpPr>
        <p:spPr>
          <a:xfrm>
            <a:off x="1074821" y="4652211"/>
            <a:ext cx="5708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What is the data type of each column?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dirty="0"/>
              <a:t>What is the level of measurement?</a:t>
            </a:r>
          </a:p>
        </p:txBody>
      </p:sp>
    </p:spTree>
    <p:extLst>
      <p:ext uri="{BB962C8B-B14F-4D97-AF65-F5344CB8AC3E}">
        <p14:creationId xmlns:p14="http://schemas.microsoft.com/office/powerpoint/2010/main" val="28494516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A9F5-5E4F-5886-AAAE-11D4A1CC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Closing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90D4-4AA7-58D3-7298-DBDDD2E80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Reflect: where in the lifecycle would you be most comfortable working?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4681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33C7-294D-801F-4BC4-2D48354A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0CC8-DF28-78BC-A87E-B748833C5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do we summarize numerical data?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2754272"/>
      </p:ext>
    </p:extLst>
  </p:cSld>
  <p:clrMapOvr>
    <a:masterClrMapping/>
  </p:clrMapOvr>
</p:sld>
</file>

<file path=ppt/theme/theme1.xml><?xml version="1.0" encoding="utf-8"?>
<a:theme xmlns:a="http://schemas.openxmlformats.org/drawingml/2006/main" name="NAIT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" id="{DF651FC3-C7F7-494F-8E7B-068392C93DF2}" vid="{A0C0D8A3-3686-48EC-A2E6-86B0D9C321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04d7dfe6c5c585be91c8ee3187e43294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27f7757fcb8cf5250918f83dc09c3597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175f85-aaa6-450f-8e62-bb2d8657c111" xsi:nil="true"/>
    <lcf76f155ced4ddcb4097134ff3c332f xmlns="c0636a0e-6a5d-4f3a-8cec-2ed9d7e96064">
      <Terms xmlns="http://schemas.microsoft.com/office/infopath/2007/PartnerControls"/>
    </lcf76f155ced4ddcb4097134ff3c332f>
    <DocumentType xmlns="c0636a0e-6a5d-4f3a-8cec-2ed9d7e96064" xsi:nil="true"/>
  </documentManagement>
</p:properties>
</file>

<file path=customXml/itemProps1.xml><?xml version="1.0" encoding="utf-8"?>
<ds:datastoreItem xmlns:ds="http://schemas.openxmlformats.org/officeDocument/2006/customXml" ds:itemID="{77830089-5EF4-4992-A0D2-08F891D526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BD3150-EEDC-43A9-905D-FE26EE0B9E2B}">
  <ds:schemaRefs>
    <ds:schemaRef ds:uri="28175f85-aaa6-450f-8e62-bb2d8657c111"/>
    <ds:schemaRef ds:uri="c0636a0e-6a5d-4f3a-8cec-2ed9d7e960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EE1508-388F-4E08-8045-A8999AEFD01B}">
  <ds:schemaRefs>
    <ds:schemaRef ds:uri="28175f85-aaa6-450f-8e62-bb2d8657c111"/>
    <ds:schemaRef ds:uri="c0636a0e-6a5d-4f3a-8cec-2ed9d7e9606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</Template>
  <TotalTime>1356</TotalTime>
  <Words>1862</Words>
  <Application>Microsoft Office PowerPoint</Application>
  <PresentationFormat>Widescreen</PresentationFormat>
  <Paragraphs>304</Paragraphs>
  <Slides>31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NAIT</vt:lpstr>
      <vt:lpstr>SDEV2501</vt:lpstr>
      <vt:lpstr>Today’s objective</vt:lpstr>
      <vt:lpstr>Agenda</vt:lpstr>
      <vt:lpstr>Review</vt:lpstr>
      <vt:lpstr>Housekeeping reminders</vt:lpstr>
      <vt:lpstr>Day 1 check-out ticket feedback</vt:lpstr>
      <vt:lpstr>Intro to Data Science</vt:lpstr>
      <vt:lpstr>Data Science Lifecycle</vt:lpstr>
      <vt:lpstr>Data Analysis vs BI vs Data Science</vt:lpstr>
      <vt:lpstr>Data Analysis</vt:lpstr>
      <vt:lpstr>What is Data Analytics?</vt:lpstr>
      <vt:lpstr>Main Types of Data Analytics</vt:lpstr>
      <vt:lpstr>Data Visualization</vt:lpstr>
      <vt:lpstr>Common types of data visualization</vt:lpstr>
      <vt:lpstr>What is Data Science?</vt:lpstr>
      <vt:lpstr>What does a data scientist do?</vt:lpstr>
      <vt:lpstr>Key components of data science</vt:lpstr>
      <vt:lpstr>Applications of data science</vt:lpstr>
      <vt:lpstr>Data Science Lifecycle</vt:lpstr>
      <vt:lpstr>Stages of the Data Analysis Lifecycle</vt:lpstr>
      <vt:lpstr>Stages of the Data Science Lifecycle</vt:lpstr>
      <vt:lpstr>What makes a question effective?</vt:lpstr>
      <vt:lpstr>Sample Scenarios</vt:lpstr>
      <vt:lpstr>Peer Refine</vt:lpstr>
      <vt:lpstr>Activity</vt:lpstr>
      <vt:lpstr>Data Types</vt:lpstr>
      <vt:lpstr>Levels of Measurement</vt:lpstr>
      <vt:lpstr>Data Science Terminology</vt:lpstr>
      <vt:lpstr>Practice</vt:lpstr>
      <vt:lpstr>Closing</vt:lpstr>
      <vt:lpstr>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Dana Marsh</cp:lastModifiedBy>
  <cp:revision>4</cp:revision>
  <dcterms:created xsi:type="dcterms:W3CDTF">2026-08-25T04:32:03Z</dcterms:created>
  <dcterms:modified xsi:type="dcterms:W3CDTF">2026-09-10T22:47:58Z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0x0101007BB085E912FEB648B2192060B32B0D81</vt:lpwstr>
  </property>
  <property fmtid="{D5CDD505-2E9C-101B-9397-08002B2CF9AE}" pid="3" name="MSIP_Label_10877899-02b0-462c-b2a9-b7d15c4f96fe_Enabled">
    <vt:lpwstr>true</vt:lpwstr>
  </property>
  <property fmtid="{D5CDD505-2E9C-101B-9397-08002B2CF9AE}" pid="4" name="MSIP_Label_10877899-02b0-462c-b2a9-b7d15c4f96fe_SetDate">
    <vt:lpwstr>2026-08-25T04:35:10Z</vt:lpwstr>
  </property>
  <property fmtid="{D5CDD505-2E9C-101B-9397-08002B2CF9AE}" pid="5" name="MSIP_Label_10877899-02b0-462c-b2a9-b7d15c4f96fe_Method">
    <vt:lpwstr>Standard</vt:lpwstr>
  </property>
  <property fmtid="{D5CDD505-2E9C-101B-9397-08002B2CF9AE}" pid="6" name="MSIP_Label_10877899-02b0-462c-b2a9-b7d15c4f96fe_Name">
    <vt:lpwstr>Protected [Protected A]</vt:lpwstr>
  </property>
  <property fmtid="{D5CDD505-2E9C-101B-9397-08002B2CF9AE}" pid="7" name="MSIP_Label_10877899-02b0-462c-b2a9-b7d15c4f96fe_SiteId">
    <vt:lpwstr>5c98fb47-d3b9-4649-9d94-f88cbdd9729c</vt:lpwstr>
  </property>
  <property fmtid="{D5CDD505-2E9C-101B-9397-08002B2CF9AE}" pid="8" name="MSIP_Label_10877899-02b0-462c-b2a9-b7d15c4f96fe_ActionId">
    <vt:lpwstr>af845199-003d-4601-b6f0-f161fa16001f</vt:lpwstr>
  </property>
  <property fmtid="{D5CDD505-2E9C-101B-9397-08002B2CF9AE}" pid="9" name="MSIP_Label_10877899-02b0-462c-b2a9-b7d15c4f96fe_ContentBits">
    <vt:lpwstr>0</vt:lpwstr>
  </property>
  <property fmtid="{D5CDD505-2E9C-101B-9397-08002B2CF9AE}" pid="10" name="MSIP_Label_10877899-02b0-462c-b2a9-b7d15c4f96fe_Tag">
    <vt:lpwstr>10, 3, 0, 2</vt:lpwstr>
  </property>
  <property fmtid="{D5CDD505-2E9C-101B-9397-08002B2CF9AE}" pid="11" name="MediaServiceImageTags">
    <vt:lpwstr/>
  </property>
</Properties>
</file>